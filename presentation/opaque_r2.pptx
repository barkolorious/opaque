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90" r:id="rId5"/>
    <p:sldId id="264" r:id="rId6"/>
    <p:sldId id="259" r:id="rId7"/>
    <p:sldId id="286" r:id="rId8"/>
    <p:sldId id="260" r:id="rId9"/>
    <p:sldId id="261" r:id="rId10"/>
    <p:sldId id="262" r:id="rId11"/>
    <p:sldId id="287" r:id="rId12"/>
    <p:sldId id="265" r:id="rId13"/>
    <p:sldId id="263" r:id="rId14"/>
    <p:sldId id="289" r:id="rId15"/>
    <p:sldId id="266" r:id="rId16"/>
    <p:sldId id="288" r:id="rId17"/>
    <p:sldId id="267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91" r:id="rId29"/>
    <p:sldId id="279" r:id="rId30"/>
    <p:sldId id="292" r:id="rId31"/>
    <p:sldId id="280" r:id="rId32"/>
    <p:sldId id="284" r:id="rId33"/>
    <p:sldId id="283" r:id="rId34"/>
    <p:sldId id="285" r:id="rId3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FFAE"/>
    <a:srgbClr val="001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9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9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D49CB-2C72-414C-A215-091CDBD8C58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2E72F-3C11-4B1B-9B4D-8452B2B63D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99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2E72F-3C11-4B1B-9B4D-8452B2B63D6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95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5AF5-1F68-679C-810E-F17C51C3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AB8DF423-0C8C-1C26-0414-96C17ADB8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685520E-C0D3-C22D-5DDF-4656D1C23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CBA8699-911D-BFBA-1583-D7099568C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2E72F-3C11-4B1B-9B4D-8452B2B63D6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6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458770-E112-51DF-E7F9-57F1974F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96297"/>
          </a:xfrm>
        </p:spPr>
        <p:txBody>
          <a:bodyPr anchor="b"/>
          <a:lstStyle>
            <a:lvl1pPr algn="ctr">
              <a:defRPr sz="6000">
                <a:solidFill>
                  <a:srgbClr val="A5FFAE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4E1E196-328E-FABB-4199-EB5F46309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660"/>
            <a:ext cx="9144000" cy="739140"/>
          </a:xfrm>
        </p:spPr>
        <p:txBody>
          <a:bodyPr/>
          <a:lstStyle>
            <a:lvl1pPr marL="0" indent="0" algn="ctr">
              <a:buNone/>
              <a:defRPr sz="2400">
                <a:latin typeface="TT Supermolot Neue" panose="02000503020000020004" pitchFamily="2" charset="-9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dirty="0"/>
              <a:t>Asıl alt başlık stilini düzenlemek için tıklayın</a:t>
            </a:r>
            <a:endParaRPr lang="en-US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59F05A-D463-E3E8-057D-5122D3BB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A57664-4E87-CD6B-57B4-545C0E5B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2C9F206-1EA8-0B28-4544-BE3E75BC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2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E99ED87A-51F5-1576-B4EB-237A3573F572}"/>
              </a:ext>
            </a:extLst>
          </p:cNvPr>
          <p:cNvSpPr/>
          <p:nvPr userDrawn="1"/>
        </p:nvSpPr>
        <p:spPr>
          <a:xfrm>
            <a:off x="0" y="0"/>
            <a:ext cx="12192000" cy="1165860"/>
          </a:xfrm>
          <a:prstGeom prst="rect">
            <a:avLst/>
          </a:prstGeom>
          <a:solidFill>
            <a:srgbClr val="A5FF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7D4E1BA-D784-E51F-1743-F90C4818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892"/>
            <a:ext cx="10515600" cy="854075"/>
          </a:xfrm>
        </p:spPr>
        <p:txBody>
          <a:bodyPr/>
          <a:lstStyle/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43731E-C779-22B2-0A5C-2F469578D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920D410-ECA3-F395-424A-12E1D8AA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661EBC-2C68-24A1-DC62-8725F1CF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4B995BC-9A9D-1623-25FB-307DF17F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05FF150-23D1-A9AF-8A7B-29845B0794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160" y="6483825"/>
            <a:ext cx="1859280" cy="2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60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ADB1C3-F292-67AF-6261-84A8BCA86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629CE01-9B97-6FA5-C23F-4D02DD614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1F2E8C3-16FB-F2F0-8456-1A14B075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92D604-C455-412D-CDB1-0E4AB5B5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436C741-E81B-D963-8BE7-DD976311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32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E1D7C0-5DCC-7A93-49D8-7FDCFD34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1FB41C-181B-2688-A425-98E90ED3D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723D44D-8EF2-1DFF-FFB9-958CEE40C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90E8A4B-48A1-58D2-73EE-E15CCC76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FAAFE68-21C3-9589-91CF-165200BA4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43A307B-B6DD-98C0-61E5-E0373273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3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948E27-D95B-8BFC-FD27-B1BCC1F0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F7E0F80-AC19-D112-AC49-F090CB5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5247894-6A56-928E-C6DC-0217903CA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E09A80C-DABA-3F3D-36AD-9F76A8893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B07EA86-895A-AA0A-112E-C9F2687D8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4258B6A-5CC7-F679-B51C-9FE2C36B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8722588-4E0F-C3C0-5529-61B90B8F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D22EE35-E91F-01F3-AA09-3C2A2FC2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9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40D1D4-537F-C179-A965-7AD631DDB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7078EAF-AEE7-CD47-F5A4-D3802CCE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2E879F5-5FBE-DD4B-A8B0-DB7B344B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AF45BE8-3D35-A8C7-DB55-FD698A1D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5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C53BA54-DFEB-A658-4BCC-11B4E150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BF24F36-2E67-8E10-2BE4-D2F26860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90750E5-E8A2-5039-029D-C539BF5C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6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C06094-A3F0-248B-BB27-45EE6609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6F5601E-7DA4-1D1F-166E-67BC9CC83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1B989A9-4BB0-04AE-0489-8330009ED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1DA4EAE-489E-2B9D-7847-6D012A00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14DABAA-B27C-89F0-A88D-CD412E9D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A4FDD6-3552-B405-F37D-6A187294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1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65988C-EA6D-CF77-F576-BDEF033D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E899FFA-120E-5366-82EC-DE6AB2AFD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1F6552A-A5DA-1500-3D00-1CA9FFABE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76CABF4-A4B3-3546-059D-A9DF48DF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B4B7959-1683-C03E-3C50-4C0B48F6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ECF63E8-C433-4498-1F5D-C579E581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46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227BA5-31DC-EA34-7566-4DB58DCA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DE19DD0-4207-8DA9-7CD4-3FA053D31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0CBE8D4-6FD9-915E-3BA8-CAD55CB9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BB165A-33C2-FC96-0DB0-2A886EF4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AC486DA-DEAF-B34D-A76C-B9C18B8D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0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11334B67-BFD7-5241-CA08-F0C70690E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71A8FF1-2EAE-CF6A-91F5-37CA2A993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9E27043-CE44-9B5F-025E-8FC1A869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E1CC42B-5652-9ECD-83DC-F1BB0833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17E3CC1-E500-CF73-811E-2272C52B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147B68D-92A6-6462-3483-F4BAF4EA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202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6333FAC-F598-8942-EE5E-8563A35AD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D330A03-5233-7EE9-04ED-1BEDEA2B0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711F-226B-47DD-A15E-7CAE4010C3F9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BBDB5BB-5A8D-4B44-177F-4D9AB6FDA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34B94E-58B1-3E87-7583-14A25B9D8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BFBB9-9145-4756-98A1-1C181DB4C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79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01120"/>
          </a:solidFill>
          <a:latin typeface="TT Supermolot Neue Black" panose="02000503030000020004" pitchFamily="2" charset="-9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j.jea.7500165" TargetMode="External"/><Relationship Id="rId2" Type="http://schemas.openxmlformats.org/officeDocument/2006/relationships/hyperlink" Target="https://lcf.org.in/lung-basic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emizhavahakki.org/wp-content/uploads/2021/09/KaraRapor2021.pdf" TargetMode="External"/><Relationship Id="rId4" Type="http://schemas.openxmlformats.org/officeDocument/2006/relationships/hyperlink" Target="https://temizhavahakki.org/kararapor20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6EA8A4-B9D7-1AB5-355E-749B7F191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173" y="700644"/>
            <a:ext cx="9561516" cy="25813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r-TR" sz="4800" dirty="0">
                <a:latin typeface="TT Supermolot Neue Exp Black" panose="02000505040000020004" pitchFamily="2" charset="-94"/>
              </a:rPr>
              <a:t>Açık-kaynaklı Taşınabilir Hava Kalitesi Ölçüm Kitleri</a:t>
            </a:r>
            <a:endParaRPr lang="en-US" sz="4800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7F90424-8485-1E19-B138-7689C20FC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660"/>
            <a:ext cx="9144000" cy="1066800"/>
          </a:xfrm>
        </p:spPr>
        <p:txBody>
          <a:bodyPr anchor="ctr"/>
          <a:lstStyle/>
          <a:p>
            <a:pPr algn="l"/>
            <a:r>
              <a:rPr lang="tr-TR" b="1" dirty="0">
                <a:latin typeface="Franklin Gothic Book" panose="020B0503020102020204" pitchFamily="34" charset="0"/>
                <a:cs typeface="Arial" panose="020B0604020202020204" pitchFamily="34" charset="0"/>
              </a:rPr>
              <a:t>Hazırlayan: </a:t>
            </a:r>
            <a:r>
              <a:rPr lang="tr-TR" dirty="0">
                <a:latin typeface="Franklin Gothic Book" panose="020B0503020102020204" pitchFamily="34" charset="0"/>
                <a:cs typeface="Arial" panose="020B0604020202020204" pitchFamily="34" charset="0"/>
              </a:rPr>
              <a:t>Barkın Özsoy</a:t>
            </a:r>
          </a:p>
          <a:p>
            <a:pPr algn="l"/>
            <a:r>
              <a:rPr lang="tr-TR" b="1" dirty="0">
                <a:latin typeface="Franklin Gothic Book" panose="020B0503020102020204" pitchFamily="34" charset="0"/>
                <a:cs typeface="Arial" panose="020B0604020202020204" pitchFamily="34" charset="0"/>
              </a:rPr>
              <a:t>Danışman: </a:t>
            </a:r>
            <a:r>
              <a:rPr lang="tr-TR" dirty="0">
                <a:latin typeface="Franklin Gothic Book" panose="020B0503020102020204" pitchFamily="34" charset="0"/>
                <a:cs typeface="Arial" panose="020B0604020202020204" pitchFamily="34" charset="0"/>
              </a:rPr>
              <a:t>Dr. Gülseren Coşkun</a:t>
            </a:r>
            <a:endParaRPr lang="en-US" dirty="0"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76F0293-0A33-4090-6FBA-A8E3287B7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11" y="3392243"/>
            <a:ext cx="5654040" cy="653682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500361FD-8E80-1E95-36CB-23398CC66CBB}"/>
              </a:ext>
            </a:extLst>
          </p:cNvPr>
          <p:cNvSpPr/>
          <p:nvPr/>
        </p:nvSpPr>
        <p:spPr>
          <a:xfrm rot="16200000">
            <a:off x="-2846070" y="2846070"/>
            <a:ext cx="6858000" cy="1165860"/>
          </a:xfrm>
          <a:prstGeom prst="rect">
            <a:avLst/>
          </a:prstGeom>
          <a:solidFill>
            <a:srgbClr val="A5FF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CE4EF3-2ABD-9AA7-15F1-C2DD77057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06AB96F-E62B-58DB-C19D-6BD5EB1F2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900" y="4897712"/>
            <a:ext cx="9474200" cy="854075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Hava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kirliliğini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insan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sağlığını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veya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çevre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dengesini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bozacak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şekilde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havanın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bileşiminin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değişmesi</a:t>
            </a:r>
            <a:r>
              <a:rPr lang="en-US" dirty="0">
                <a:solidFill>
                  <a:srgbClr val="A5FFAE"/>
                </a:solidFill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olarak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 </a:t>
            </a:r>
            <a:r>
              <a:rPr lang="en-US" dirty="0" err="1">
                <a:latin typeface="Franklin Gothic Book" panose="020B0503020102020204" pitchFamily="34" charset="0"/>
                <a:ea typeface="Verdana" panose="020B0604030504040204" pitchFamily="34" charset="0"/>
              </a:rPr>
              <a:t>tanımlanabilir</a:t>
            </a:r>
            <a:r>
              <a:rPr lang="en-US" dirty="0">
                <a:latin typeface="Franklin Gothic Book" panose="020B050302010202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41F862C3-D7CA-F27E-F414-20FA216C5786}"/>
              </a:ext>
            </a:extLst>
          </p:cNvPr>
          <p:cNvSpPr txBox="1">
            <a:spLocks/>
          </p:cNvSpPr>
          <p:nvPr/>
        </p:nvSpPr>
        <p:spPr>
          <a:xfrm>
            <a:off x="1358900" y="2308596"/>
            <a:ext cx="9474200" cy="22408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“Hava kirliliği, çağımızın </a:t>
            </a:r>
            <a:r>
              <a:rPr lang="tr-TR" sz="2800" dirty="0">
                <a:solidFill>
                  <a:srgbClr val="A5FFAE"/>
                </a:solidFill>
                <a:latin typeface="Franklin Gothic Book" panose="020B0503020102020204" pitchFamily="34" charset="0"/>
                <a:ea typeface="Inter" panose="02000503000000020004" pitchFamily="2" charset="0"/>
              </a:rPr>
              <a:t>en büyük çevresel sağlık riski 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olup, her yıl </a:t>
            </a:r>
            <a:r>
              <a:rPr lang="tr-TR" sz="2800" dirty="0">
                <a:solidFill>
                  <a:srgbClr val="A5FFAE"/>
                </a:solidFill>
                <a:latin typeface="Franklin Gothic Book" panose="020B0503020102020204" pitchFamily="34" charset="0"/>
                <a:ea typeface="Inter" panose="02000503000000020004" pitchFamily="2" charset="0"/>
              </a:rPr>
              <a:t>8,1 milyondan 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fazla insanın hayatını kaybetmesine neden olan </a:t>
            </a:r>
            <a:r>
              <a:rPr lang="tr-TR" sz="2800" dirty="0">
                <a:solidFill>
                  <a:srgbClr val="A5FFAE"/>
                </a:solidFill>
                <a:latin typeface="Franklin Gothic Book" panose="020B0503020102020204" pitchFamily="34" charset="0"/>
                <a:ea typeface="Inter" panose="02000503000000020004" pitchFamily="2" charset="0"/>
              </a:rPr>
              <a:t>sessiz bir katildir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.” (United Nations Environment Program [UNEP], </a:t>
            </a:r>
            <a:r>
              <a:rPr lang="tr-TR" sz="2800" dirty="0" err="1">
                <a:latin typeface="Franklin Gothic Book" panose="020B0503020102020204" pitchFamily="34" charset="0"/>
                <a:ea typeface="Inter" panose="02000503000000020004" pitchFamily="2" charset="0"/>
              </a:rPr>
              <a:t>t.y</a:t>
            </a:r>
            <a:r>
              <a:rPr lang="tr-TR" sz="2800" dirty="0">
                <a:latin typeface="Franklin Gothic Book" panose="020B0503020102020204" pitchFamily="34" charset="0"/>
                <a:ea typeface="Inter" panose="02000503000000020004" pitchFamily="2" charset="0"/>
              </a:rPr>
              <a:t>.). </a:t>
            </a:r>
            <a:endParaRPr lang="en-US" sz="2800" dirty="0">
              <a:latin typeface="Franklin Gothic Book" panose="020B0503020102020204" pitchFamily="34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11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E8DA-68E7-0A5B-9D83-D666E362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91AC9B-62B8-DDCC-A47D-3F1838A7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70F26F02-9BA0-4276-5AAD-073C93BDAEDA}"/>
              </a:ext>
            </a:extLst>
          </p:cNvPr>
          <p:cNvSpPr txBox="1">
            <a:spLocks/>
          </p:cNvSpPr>
          <p:nvPr/>
        </p:nvSpPr>
        <p:spPr>
          <a:xfrm>
            <a:off x="838199" y="1730120"/>
            <a:ext cx="10515599" cy="4472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Bir kişi günde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~11000L hava </a:t>
            </a:r>
            <a:r>
              <a:rPr lang="tr-TR" dirty="0">
                <a:latin typeface="Franklin Gothic Book" panose="020B0503020102020204" pitchFamily="34" charset="0"/>
              </a:rPr>
              <a:t>solumaktadır. (</a:t>
            </a:r>
            <a:r>
              <a:rPr lang="tr-TR" dirty="0" err="1">
                <a:latin typeface="Franklin Gothic Book" panose="020B0503020102020204" pitchFamily="34" charset="0"/>
              </a:rPr>
              <a:t>Lung</a:t>
            </a:r>
            <a:r>
              <a:rPr lang="tr-TR" dirty="0">
                <a:latin typeface="Franklin Gothic Book" panose="020B0503020102020204" pitchFamily="34" charset="0"/>
              </a:rPr>
              <a:t> </a:t>
            </a:r>
            <a:r>
              <a:rPr lang="tr-TR" dirty="0" err="1">
                <a:latin typeface="Franklin Gothic Book" panose="020B0503020102020204" pitchFamily="34" charset="0"/>
              </a:rPr>
              <a:t>Care</a:t>
            </a:r>
            <a:r>
              <a:rPr lang="tr-TR" dirty="0">
                <a:latin typeface="Franklin Gothic Book" panose="020B0503020102020204" pitchFamily="34" charset="0"/>
              </a:rPr>
              <a:t> Foundation, </a:t>
            </a:r>
            <a:r>
              <a:rPr lang="tr-TR" dirty="0" err="1">
                <a:latin typeface="Franklin Gothic Book" panose="020B0503020102020204" pitchFamily="34" charset="0"/>
              </a:rPr>
              <a:t>t.y</a:t>
            </a:r>
            <a:r>
              <a:rPr lang="tr-TR" dirty="0">
                <a:latin typeface="Franklin Gothic Book" panose="020B0503020102020204" pitchFamily="34" charset="0"/>
              </a:rPr>
              <a:t>.)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Yetişkin biri zamanının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%86,9</a:t>
            </a:r>
            <a:r>
              <a:rPr lang="tr-TR" dirty="0">
                <a:latin typeface="Franklin Gothic Book" panose="020B0503020102020204" pitchFamily="34" charset="0"/>
              </a:rPr>
              <a:t>’unu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kapalı ortamlarda </a:t>
            </a:r>
            <a:r>
              <a:rPr lang="tr-TR" dirty="0">
                <a:latin typeface="Franklin Gothic Book" panose="020B0503020102020204" pitchFamily="34" charset="0"/>
              </a:rPr>
              <a:t>geçirmektedir. (</a:t>
            </a:r>
            <a:r>
              <a:rPr lang="tr-TR" dirty="0" err="1">
                <a:latin typeface="Franklin Gothic Book" panose="020B0503020102020204" pitchFamily="34" charset="0"/>
              </a:rPr>
              <a:t>Klepeis</a:t>
            </a:r>
            <a:r>
              <a:rPr lang="tr-TR" dirty="0">
                <a:latin typeface="Franklin Gothic Book" panose="020B0503020102020204" pitchFamily="34" charset="0"/>
              </a:rPr>
              <a:t> vd., 2001)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Hava kirliliği, dünya nüfusunun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%92’sini </a:t>
            </a:r>
            <a:r>
              <a:rPr lang="tr-TR" dirty="0">
                <a:latin typeface="Franklin Gothic Book" panose="020B0503020102020204" pitchFamily="34" charset="0"/>
              </a:rPr>
              <a:t>etkilemektedir. (Çağlayan vd., 2022) </a:t>
            </a:r>
            <a:endParaRPr lang="en-US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1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2DF5-146F-FBFE-59DD-5BD1B151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88389B-88BD-1A91-D40C-CF9CE832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F5F968-27AC-E1EF-738E-D6515D1BD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21"/>
            <a:ext cx="10515599" cy="447255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Başlıca sağlığa zararlı kirleticiler arasında: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partikül madde (PM</a:t>
            </a:r>
            <a:r>
              <a:rPr lang="tr-TR" baseline="-25000" dirty="0">
                <a:latin typeface="Franklin Gothic Book" panose="020B0503020102020204" pitchFamily="34" charset="0"/>
              </a:rPr>
              <a:t>2.5</a:t>
            </a:r>
            <a:r>
              <a:rPr lang="tr-TR" dirty="0">
                <a:latin typeface="Franklin Gothic Book" panose="020B0503020102020204" pitchFamily="34" charset="0"/>
              </a:rPr>
              <a:t> ve PM</a:t>
            </a:r>
            <a:r>
              <a:rPr lang="tr-TR" baseline="-25000" dirty="0">
                <a:latin typeface="Franklin Gothic Book" panose="020B0503020102020204" pitchFamily="34" charset="0"/>
              </a:rPr>
              <a:t>10</a:t>
            </a:r>
            <a:r>
              <a:rPr lang="tr-TR" dirty="0">
                <a:latin typeface="Franklin Gothic Book" panose="020B0503020102020204" pitchFamily="34" charset="0"/>
              </a:rPr>
              <a:t>),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karbonmonoksit (CO),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ozon (O</a:t>
            </a:r>
            <a:r>
              <a:rPr lang="tr-TR" baseline="-25000" dirty="0">
                <a:latin typeface="Franklin Gothic Book" panose="020B0503020102020204" pitchFamily="34" charset="0"/>
              </a:rPr>
              <a:t>3</a:t>
            </a:r>
            <a:r>
              <a:rPr lang="tr-TR" dirty="0">
                <a:latin typeface="Franklin Gothic Book" panose="020B0503020102020204" pitchFamily="34" charset="0"/>
              </a:rPr>
              <a:t>),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kükürtdioksit (SO</a:t>
            </a:r>
            <a:r>
              <a:rPr lang="tr-TR" baseline="-25000" dirty="0">
                <a:latin typeface="Franklin Gothic Book" panose="020B0503020102020204" pitchFamily="34" charset="0"/>
              </a:rPr>
              <a:t>2</a:t>
            </a:r>
            <a:r>
              <a:rPr lang="tr-TR" dirty="0">
                <a:latin typeface="Franklin Gothic Book" panose="020B0503020102020204" pitchFamily="34" charset="0"/>
              </a:rPr>
              <a:t>),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azot oksitler (</a:t>
            </a:r>
            <a:r>
              <a:rPr lang="tr-TR" dirty="0" err="1">
                <a:latin typeface="Franklin Gothic Book" panose="020B0503020102020204" pitchFamily="34" charset="0"/>
              </a:rPr>
              <a:t>NO</a:t>
            </a:r>
            <a:r>
              <a:rPr lang="tr-TR" baseline="-25000" dirty="0" err="1">
                <a:latin typeface="Franklin Gothic Book" panose="020B0503020102020204" pitchFamily="34" charset="0"/>
              </a:rPr>
              <a:t>x</a:t>
            </a:r>
            <a:r>
              <a:rPr lang="tr-TR" dirty="0">
                <a:latin typeface="Franklin Gothic Book" panose="020B0503020102020204" pitchFamily="34" charset="0"/>
              </a:rPr>
              <a:t>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bulunur. </a:t>
            </a:r>
            <a:r>
              <a:rPr lang="en-US" dirty="0">
                <a:latin typeface="Franklin Gothic Book" panose="020B0503020102020204" pitchFamily="34" charset="0"/>
              </a:rPr>
              <a:t>(WHO, 2019). </a:t>
            </a:r>
            <a:endParaRPr lang="tr-TR" sz="20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8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8A6B-003C-D7B2-010E-00529710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074CB2-D516-BA23-2F15-D5C4B8E9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Kirliliğinin Sağlığa Etkisi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F5B0EC7-DC1A-F84A-85DE-D38CB6841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980"/>
            <a:ext cx="4842753" cy="497586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WHO; hava kirliliği ile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Tip 2 diyabet</a:t>
            </a:r>
            <a:r>
              <a:rPr lang="tr-TR" dirty="0">
                <a:latin typeface="Franklin Gothic Book" panose="020B0503020102020204" pitchFamily="34" charset="0"/>
              </a:rPr>
              <a:t>, obezite, sistemik inflamasyon,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Alzheimer</a:t>
            </a:r>
            <a:r>
              <a:rPr lang="tr-TR" dirty="0">
                <a:latin typeface="Franklin Gothic Book" panose="020B0503020102020204" pitchFamily="34" charset="0"/>
              </a:rPr>
              <a:t> ve bunama arasında bağlantılar bulmuştur.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Araştırmalar,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düşük</a:t>
            </a:r>
            <a:r>
              <a:rPr lang="tr-TR" dirty="0">
                <a:latin typeface="Franklin Gothic Book" panose="020B0503020102020204" pitchFamily="34" charset="0"/>
              </a:rPr>
              <a:t>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erken doğumu </a:t>
            </a:r>
            <a:r>
              <a:rPr lang="tr-TR" dirty="0">
                <a:latin typeface="Franklin Gothic Book" panose="020B0503020102020204" pitchFamily="34" charset="0"/>
              </a:rPr>
              <a:t>arttırdığını göstermiştir. </a:t>
            </a:r>
          </a:p>
          <a:p>
            <a:pPr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COVID-19</a:t>
            </a:r>
            <a:r>
              <a:rPr lang="tr-TR" dirty="0">
                <a:latin typeface="Franklin Gothic Book" panose="020B0503020102020204" pitchFamily="34" charset="0"/>
              </a:rPr>
              <a:t> virüsüne yakalanma riskini arttırdığı ortaya konmuştur. (Temiz Hava Hakkı Platformu, 2021)</a:t>
            </a: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45761AB3-1333-5A02-264F-F5723DEE91B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791200" y="2477905"/>
            <a:ext cx="5943600" cy="2260600"/>
          </a:xfrm>
          <a:prstGeom prst="rect">
            <a:avLst/>
          </a:prstGeom>
          <a:ln/>
          <a:effectLst>
            <a:softEdge rad="25400"/>
          </a:effectLst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264BE9D7-1E5B-0C6F-5118-A2990B0C7500}"/>
              </a:ext>
            </a:extLst>
          </p:cNvPr>
          <p:cNvSpPr txBox="1"/>
          <p:nvPr/>
        </p:nvSpPr>
        <p:spPr>
          <a:xfrm>
            <a:off x="6030686" y="4738505"/>
            <a:ext cx="546462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tr-TR" i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Hava kirliliğine maruz kalmanın organlara etkileri (Çağlayan vd., 2022) </a:t>
            </a:r>
          </a:p>
        </p:txBody>
      </p:sp>
    </p:spTree>
    <p:extLst>
      <p:ext uri="{BB962C8B-B14F-4D97-AF65-F5344CB8AC3E}">
        <p14:creationId xmlns:p14="http://schemas.microsoft.com/office/powerpoint/2010/main" val="67655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035F4-AA7F-5094-66A4-A8846E27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0DBD7F-2508-A37B-907A-1E4E0878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Kirliliğinin Sağlığa Etkisi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4D7456-9B17-1A8F-9A03-B0DDA7A52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5880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2017 - 2019 yılları arasında hava kirliliği nedeniyle trafik kazalarının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~7 katı kadar</a:t>
            </a:r>
            <a:r>
              <a:rPr lang="tr-TR" dirty="0">
                <a:latin typeface="Franklin Gothic Book" panose="020B0503020102020204" pitchFamily="34" charset="0"/>
              </a:rPr>
              <a:t> ölüm yaşanmıştır.  (Temiz Hava Hakkı Platformu, 2020)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1952, 1956 ve 1962, Londra (Öldüren Sis olayı): Toplam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5300 ölüm</a:t>
            </a:r>
            <a:r>
              <a:rPr lang="tr-TR" dirty="0">
                <a:latin typeface="Franklin Gothic Book" panose="020B0503020102020204" pitchFamily="34" charset="0"/>
              </a:rPr>
              <a:t>, 1952 sonrasındaki 5 yıl içinde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400.000 kişinin </a:t>
            </a:r>
            <a:r>
              <a:rPr lang="tr-TR" dirty="0">
                <a:latin typeface="Franklin Gothic Book" panose="020B0503020102020204" pitchFamily="34" charset="0"/>
              </a:rPr>
              <a:t>erken ölümü</a:t>
            </a:r>
          </a:p>
        </p:txBody>
      </p:sp>
      <p:pic>
        <p:nvPicPr>
          <p:cNvPr id="4" name="Picture 2" descr="C:\Users\dozsoy\Desktop\BarkinOzsoy_AirQ-M_Proje\Sunum\11.jpg">
            <a:extLst>
              <a:ext uri="{FF2B5EF4-FFF2-40B4-BE49-F238E27FC236}">
                <a16:creationId xmlns:a16="http://schemas.microsoft.com/office/drawing/2014/main" id="{8C76A2B4-0BB5-F9CC-648C-0263F4CDF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5000" contras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2618125"/>
            <a:ext cx="5044440" cy="2766338"/>
          </a:xfrm>
          <a:prstGeom prst="rect">
            <a:avLst/>
          </a:prstGeom>
          <a:noFill/>
          <a:effectLst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099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8C1C-5D67-3FAE-C73E-3FA5BECE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E12D8E-6BE1-2869-8EB1-D579D6D5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 ve İklim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DDF476-C7DF-1BD7-6DAD-5C86AAF50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Hava kirliliği</a:t>
            </a:r>
            <a:r>
              <a:rPr lang="tr-TR" dirty="0">
                <a:latin typeface="Franklin Gothic Book" panose="020B0503020102020204" pitchFamily="34" charset="0"/>
              </a:rPr>
              <a:t>nin sebepleri aynı zamanda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iklim değişikliği</a:t>
            </a:r>
            <a:r>
              <a:rPr lang="tr-TR" dirty="0">
                <a:latin typeface="Franklin Gothic Book" panose="020B0503020102020204" pitchFamily="34" charset="0"/>
              </a:rPr>
              <a:t>nin de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 </a:t>
            </a:r>
            <a:r>
              <a:rPr lang="tr-TR" dirty="0">
                <a:latin typeface="Franklin Gothic Book" panose="020B0503020102020204" pitchFamily="34" charset="0"/>
              </a:rPr>
              <a:t>sebepleridir.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Yükselen ortalama sıcaklıklar, hava kirletici emisyonlarının oluşmasını tetiklemektedir. (</a:t>
            </a:r>
            <a:r>
              <a:rPr lang="tr-TR" dirty="0" err="1">
                <a:latin typeface="Franklin Gothic Book" panose="020B0503020102020204" pitchFamily="34" charset="0"/>
              </a:rPr>
              <a:t>Clean</a:t>
            </a:r>
            <a:r>
              <a:rPr lang="tr-TR" dirty="0">
                <a:latin typeface="Franklin Gothic Book" panose="020B0503020102020204" pitchFamily="34" charset="0"/>
              </a:rPr>
              <a:t> </a:t>
            </a:r>
            <a:r>
              <a:rPr lang="tr-TR" dirty="0" err="1">
                <a:latin typeface="Franklin Gothic Book" panose="020B0503020102020204" pitchFamily="34" charset="0"/>
              </a:rPr>
              <a:t>Air</a:t>
            </a:r>
            <a:r>
              <a:rPr lang="tr-TR" dirty="0">
                <a:latin typeface="Franklin Gothic Book" panose="020B0503020102020204" pitchFamily="34" charset="0"/>
              </a:rPr>
              <a:t> </a:t>
            </a:r>
            <a:r>
              <a:rPr lang="tr-TR" dirty="0" err="1">
                <a:latin typeface="Franklin Gothic Book" panose="020B0503020102020204" pitchFamily="34" charset="0"/>
              </a:rPr>
              <a:t>Fund</a:t>
            </a:r>
            <a:r>
              <a:rPr lang="tr-TR" dirty="0">
                <a:latin typeface="Franklin Gothic Book" panose="020B0503020102020204" pitchFamily="34" charset="0"/>
              </a:rPr>
              <a:t>, </a:t>
            </a:r>
            <a:r>
              <a:rPr lang="tr-TR" dirty="0" err="1">
                <a:latin typeface="Franklin Gothic Book" panose="020B0503020102020204" pitchFamily="34" charset="0"/>
              </a:rPr>
              <a:t>t.y</a:t>
            </a:r>
            <a:r>
              <a:rPr lang="tr-TR" dirty="0">
                <a:latin typeface="Franklin Gothic Book" panose="020B0503020102020204" pitchFamily="34" charset="0"/>
              </a:rPr>
              <a:t>.)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İklim değişikliğinin etkisi ile birlikte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aşırı hava olayları </a:t>
            </a:r>
            <a:r>
              <a:rPr lang="tr-TR" dirty="0">
                <a:latin typeface="Franklin Gothic Book" panose="020B0503020102020204" pitchFamily="34" charset="0"/>
              </a:rPr>
              <a:t>kalıcı hale gelip hava kirliliğinin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zirve yaptığı sürenin artmasına </a:t>
            </a:r>
            <a:r>
              <a:rPr lang="tr-TR" dirty="0">
                <a:latin typeface="Franklin Gothic Book" panose="020B0503020102020204" pitchFamily="34" charset="0"/>
              </a:rPr>
              <a:t>sebep olmaktadır.</a:t>
            </a:r>
          </a:p>
        </p:txBody>
      </p:sp>
    </p:spTree>
    <p:extLst>
      <p:ext uri="{BB962C8B-B14F-4D97-AF65-F5344CB8AC3E}">
        <p14:creationId xmlns:p14="http://schemas.microsoft.com/office/powerpoint/2010/main" val="262715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A4C9-E5C0-EEA1-257C-A7936F48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BFBC9B-D1A6-1E7E-0D63-D82AB863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GİRİŞ: </a:t>
            </a:r>
            <a:r>
              <a:rPr lang="tr-TR" dirty="0"/>
              <a:t>Hava Kirliliğine Karşı Önlemler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B17ECC-258C-0E27-2A96-9A2896A8E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460"/>
            <a:ext cx="10515600" cy="4873943"/>
          </a:xfrm>
        </p:spPr>
        <p:txBody>
          <a:bodyPr anchor="ctr">
            <a:normAutofit/>
          </a:bodyPr>
          <a:lstStyle/>
          <a:p>
            <a:pPr marL="0" indent="357188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Hava kirliliğine karşı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ana tedbirler</a:t>
            </a:r>
            <a:r>
              <a:rPr lang="tr-TR" dirty="0">
                <a:latin typeface="Franklin Gothic Book" panose="020B0503020102020204" pitchFamily="34" charset="0"/>
              </a:rPr>
              <a:t>in neredeyse hepsi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resmi kurumlar </a:t>
            </a:r>
            <a:r>
              <a:rPr lang="tr-TR" dirty="0">
                <a:latin typeface="Franklin Gothic Book" panose="020B0503020102020204" pitchFamily="34" charset="0"/>
              </a:rPr>
              <a:t>veya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devletler</a:t>
            </a:r>
            <a:r>
              <a:rPr lang="tr-TR" dirty="0">
                <a:latin typeface="Franklin Gothic Book" panose="020B0503020102020204" pitchFamily="34" charset="0"/>
              </a:rPr>
              <a:t> tarafından yapılabilecek boyutlardadır. (</a:t>
            </a:r>
            <a:r>
              <a:rPr lang="tr-TR" dirty="0" err="1">
                <a:latin typeface="Franklin Gothic Book" panose="020B0503020102020204" pitchFamily="34" charset="0"/>
              </a:rPr>
              <a:t>IQAir</a:t>
            </a:r>
            <a:r>
              <a:rPr lang="tr-TR" dirty="0">
                <a:latin typeface="Franklin Gothic Book" panose="020B0503020102020204" pitchFamily="34" charset="0"/>
              </a:rPr>
              <a:t>, 2022; WHO, 2019).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Bireysel olarak yapılabilecekler: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Maruz kalma süresini sınırlamak,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Hava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temizleme sistemleri </a:t>
            </a:r>
            <a:r>
              <a:rPr lang="tr-TR" dirty="0">
                <a:latin typeface="Franklin Gothic Book" panose="020B0503020102020204" pitchFamily="34" charset="0"/>
              </a:rPr>
              <a:t>kullanmak,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Solunum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maskesi takmak</a:t>
            </a:r>
            <a:r>
              <a:rPr lang="tr-TR" dirty="0">
                <a:latin typeface="Franklin Gothic Book" panose="020B0503020102020204" pitchFamily="34" charset="0"/>
              </a:rPr>
              <a:t>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Uygun olduğunda kapalı ortamları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havalandırmak </a:t>
            </a:r>
            <a:r>
              <a:rPr lang="tr-TR" dirty="0">
                <a:latin typeface="Franklin Gothic Book" panose="020B0503020102020204" pitchFamily="34" charset="0"/>
              </a:rPr>
              <a:t>ile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sınırlıdır</a:t>
            </a:r>
            <a:r>
              <a:rPr lang="tr-TR" dirty="0">
                <a:latin typeface="Franklin Gothic Book" panose="020B0503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678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3A591-53AA-50F0-B57C-27170648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7E1988-6403-EFCF-3860-50E68597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PROBLEMİN TANIMI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D8C962-45EB-7CB5-5962-3E2533DFE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Kişisel tedbirler için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kirlilik ölçümleri gereklidir</a:t>
            </a:r>
            <a:r>
              <a:rPr lang="tr-TR" dirty="0">
                <a:latin typeface="Franklin Gothic Book" panose="020B0503020102020204" pitchFamily="34" charset="0"/>
              </a:rPr>
              <a:t>. (Karakaş, 2015; </a:t>
            </a:r>
            <a:r>
              <a:rPr lang="tr-TR" dirty="0" err="1">
                <a:latin typeface="Franklin Gothic Book" panose="020B0503020102020204" pitchFamily="34" charset="0"/>
              </a:rPr>
              <a:t>Aghlara</a:t>
            </a:r>
            <a:r>
              <a:rPr lang="tr-TR" dirty="0">
                <a:latin typeface="Franklin Gothic Book" panose="020B0503020102020204" pitchFamily="34" charset="0"/>
              </a:rPr>
              <a:t>, 2017; </a:t>
            </a:r>
            <a:r>
              <a:rPr lang="tr-TR" dirty="0" err="1">
                <a:latin typeface="Franklin Gothic Book" panose="020B0503020102020204" pitchFamily="34" charset="0"/>
              </a:rPr>
              <a:t>IQAir</a:t>
            </a:r>
            <a:r>
              <a:rPr lang="tr-TR" dirty="0">
                <a:latin typeface="Franklin Gothic Book" panose="020B0503020102020204" pitchFamily="34" charset="0"/>
              </a:rPr>
              <a:t>, 2022)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Taşınabilir bir cihaz olması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risk grupları</a:t>
            </a:r>
            <a:r>
              <a:rPr lang="tr-TR" dirty="0">
                <a:latin typeface="Franklin Gothic Book" panose="020B0503020102020204" pitchFamily="34" charset="0"/>
              </a:rPr>
              <a:t>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çocuklar</a:t>
            </a:r>
            <a:r>
              <a:rPr lang="tr-TR" dirty="0">
                <a:latin typeface="Franklin Gothic Book" panose="020B0503020102020204" pitchFamily="34" charset="0"/>
              </a:rPr>
              <a:t>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bebekler</a:t>
            </a:r>
            <a:r>
              <a:rPr lang="tr-TR" dirty="0">
                <a:latin typeface="Franklin Gothic Book" panose="020B0503020102020204" pitchFamily="34" charset="0"/>
              </a:rPr>
              <a:t> için önemlidir.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Literatürdeki çalışmalarda ve mevcut sistemlerde genel olarak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taşınabilirlik</a:t>
            </a:r>
            <a:r>
              <a:rPr lang="tr-TR" dirty="0">
                <a:latin typeface="Franklin Gothic Book" panose="020B0503020102020204" pitchFamily="34" charset="0"/>
              </a:rPr>
              <a:t>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maliyet</a:t>
            </a:r>
            <a:r>
              <a:rPr lang="tr-TR" dirty="0">
                <a:latin typeface="Franklin Gothic Book" panose="020B0503020102020204" pitchFamily="34" charset="0"/>
              </a:rPr>
              <a:t> gözetilmemiş,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yalnızca bir veya iki </a:t>
            </a:r>
            <a:r>
              <a:rPr lang="tr-TR" dirty="0">
                <a:latin typeface="Franklin Gothic Book" panose="020B0503020102020204" pitchFamily="34" charset="0"/>
              </a:rPr>
              <a:t>ana kirleticiye vurgu yapılmıştır.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  <a:ea typeface="Inter" panose="02000503000000020004" pitchFamily="2" charset="0"/>
              </a:rPr>
              <a:t>“</a:t>
            </a:r>
            <a:r>
              <a:rPr lang="tr-TR" dirty="0">
                <a:latin typeface="Franklin Gothic Book" panose="020B0503020102020204" pitchFamily="34" charset="0"/>
              </a:rPr>
              <a:t>Kendin Yap</a:t>
            </a:r>
            <a:r>
              <a:rPr lang="tr-TR" dirty="0">
                <a:latin typeface="Franklin Gothic Book" panose="020B0503020102020204" pitchFamily="34" charset="0"/>
                <a:ea typeface="Inter" panose="02000503000000020004" pitchFamily="2" charset="0"/>
              </a:rPr>
              <a:t>”</a:t>
            </a:r>
            <a:r>
              <a:rPr lang="tr-TR" dirty="0">
                <a:latin typeface="Franklin Gothic Book" panose="020B0503020102020204" pitchFamily="34" charset="0"/>
              </a:rPr>
              <a:t> cihazlarda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ölçüm hassasiyeti </a:t>
            </a:r>
            <a:r>
              <a:rPr lang="tr-TR" dirty="0">
                <a:latin typeface="Franklin Gothic Book" panose="020B0503020102020204" pitchFamily="34" charset="0"/>
              </a:rPr>
              <a:t>gözetilmemektedir.</a:t>
            </a:r>
          </a:p>
        </p:txBody>
      </p:sp>
    </p:spTree>
    <p:extLst>
      <p:ext uri="{BB962C8B-B14F-4D97-AF65-F5344CB8AC3E}">
        <p14:creationId xmlns:p14="http://schemas.microsoft.com/office/powerpoint/2010/main" val="148101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4737-288E-8B83-09CB-08B2A40D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BC8EDF-1E93-D821-903E-2BF9A144F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AMAÇ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ACEF232-6646-6CAE-7508-7F00C04FC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Hava kirliliğinden etkilenen insanlar için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taşınabilir</a:t>
            </a:r>
            <a:r>
              <a:rPr lang="tr-TR" dirty="0">
                <a:latin typeface="Franklin Gothic Book" panose="020B0503020102020204" pitchFamily="34" charset="0"/>
              </a:rPr>
              <a:t>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ulaşılabilir 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düşük maliyetli</a:t>
            </a:r>
            <a:r>
              <a:rPr lang="tr-TR" dirty="0">
                <a:latin typeface="Franklin Gothic Book" panose="020B0503020102020204" pitchFamily="34" charset="0"/>
              </a:rPr>
              <a:t>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güvenilir hassasiyette </a:t>
            </a:r>
            <a:r>
              <a:rPr lang="tr-TR" dirty="0">
                <a:latin typeface="Franklin Gothic Book" panose="020B0503020102020204" pitchFamily="34" charset="0"/>
              </a:rPr>
              <a:t>ölçüm yapabilen,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açık kod ve kaynak </a:t>
            </a:r>
            <a:r>
              <a:rPr lang="tr-TR" dirty="0">
                <a:latin typeface="Franklin Gothic Book" panose="020B0503020102020204" pitchFamily="34" charset="0"/>
              </a:rPr>
              <a:t>olarak yayınlanacak,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hava kalitesi ölçüm cihazı yapmaktır. </a:t>
            </a:r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9680F2E2-29EB-1562-F0AD-36C7FCFFFE1D}"/>
              </a:ext>
            </a:extLst>
          </p:cNvPr>
          <p:cNvSpPr/>
          <p:nvPr/>
        </p:nvSpPr>
        <p:spPr>
          <a:xfrm>
            <a:off x="8895590" y="2772189"/>
            <a:ext cx="2458210" cy="245821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85693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82F5-D076-DDC2-1DDE-DDBC7144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9205C2-6623-682E-7F03-E265BB8B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AMAÇ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B22C66-59A5-98BC-1DEA-13A5D1BCC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358775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Ayrıca ölçümlerin kaydedilip bir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veri tabanı </a:t>
            </a:r>
            <a:r>
              <a:rPr lang="tr-TR" dirty="0">
                <a:latin typeface="Franklin Gothic Book" panose="020B0503020102020204" pitchFamily="34" charset="0"/>
              </a:rPr>
              <a:t>oluşturulması ve böylece hem hava kirliliğinin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takibi</a:t>
            </a:r>
            <a:r>
              <a:rPr lang="tr-TR" dirty="0">
                <a:latin typeface="Franklin Gothic Book" panose="020B0503020102020204" pitchFamily="34" charset="0"/>
              </a:rPr>
              <a:t> hem de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araştırma ve geliştirme</a:t>
            </a:r>
            <a:r>
              <a:rPr lang="tr-TR" dirty="0">
                <a:latin typeface="Franklin Gothic Book" panose="020B0503020102020204" pitchFamily="34" charset="0"/>
              </a:rPr>
              <a:t> çalışmalarında kullanılabilmesi hedeflenmiştir.</a:t>
            </a:r>
          </a:p>
          <a:p>
            <a:pPr marL="0" indent="358775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Buna ek olarak hastaların maruziyetlerinin bilinmesi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tedavi sürecinde </a:t>
            </a:r>
            <a:r>
              <a:rPr lang="tr-TR" dirty="0">
                <a:latin typeface="Franklin Gothic Book" panose="020B0503020102020204" pitchFamily="34" charset="0"/>
              </a:rPr>
              <a:t>doktorların daha doğru karar vermesini sağlayacaktır.</a:t>
            </a:r>
          </a:p>
        </p:txBody>
      </p:sp>
    </p:spTree>
    <p:extLst>
      <p:ext uri="{BB962C8B-B14F-4D97-AF65-F5344CB8AC3E}">
        <p14:creationId xmlns:p14="http://schemas.microsoft.com/office/powerpoint/2010/main" val="2223361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17D9-6E94-9F60-8092-E9FBC452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9219DF-2F3B-C51B-2FD3-A0A0C0EA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9A30EC-569E-0535-C58B-98FF40771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355600">
              <a:lnSpc>
                <a:spcPct val="100000"/>
              </a:lnSpc>
              <a:buNone/>
            </a:pPr>
            <a:r>
              <a:rPr lang="tr-TR" dirty="0"/>
              <a:t>Proje kapsamında </a:t>
            </a:r>
            <a:r>
              <a:rPr lang="tr-TR" dirty="0">
                <a:solidFill>
                  <a:srgbClr val="A5FFAE"/>
                </a:solidFill>
              </a:rPr>
              <a:t>iki tür cihaz </a:t>
            </a:r>
            <a:r>
              <a:rPr lang="tr-TR" dirty="0"/>
              <a:t>yapılmıştır:</a:t>
            </a:r>
          </a:p>
          <a:p>
            <a:pPr lvl="1"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Kitler: </a:t>
            </a:r>
            <a:r>
              <a:rPr lang="tr-TR" dirty="0"/>
              <a:t>Hastalara ve kişilere verilen hava kalitesi ölçüm cihazları.</a:t>
            </a:r>
          </a:p>
          <a:p>
            <a:pPr lvl="1"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Priz Modülü (</a:t>
            </a:r>
            <a:r>
              <a:rPr lang="tr-TR" b="1" dirty="0" err="1">
                <a:solidFill>
                  <a:srgbClr val="A5FFAE"/>
                </a:solidFill>
              </a:rPr>
              <a:t>PrMd</a:t>
            </a:r>
            <a:r>
              <a:rPr lang="tr-TR" b="1" dirty="0">
                <a:solidFill>
                  <a:srgbClr val="A5FFAE"/>
                </a:solidFill>
              </a:rPr>
              <a:t>): </a:t>
            </a:r>
            <a:r>
              <a:rPr lang="tr-TR" dirty="0"/>
              <a:t>Alarm değerlerinin aşılması sonrasında gelen sinyal ile devreye giren bir priz ünitesidir.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11DDD0-E375-C0E0-49D8-25AEC79D5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149" y="3808738"/>
            <a:ext cx="3017520" cy="139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5428792-3D93-5148-2872-1AB167E4B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669" y="3808738"/>
            <a:ext cx="3017520" cy="139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EA07CA4-66C3-E60C-345F-CFB9742AE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6" b="22644"/>
          <a:stretch>
            <a:fillRect/>
          </a:stretch>
        </p:blipFill>
        <p:spPr bwMode="auto">
          <a:xfrm rot="16200000">
            <a:off x="1961977" y="3105029"/>
            <a:ext cx="1941153" cy="288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EE8D31B1-485E-62F0-7484-BFF65E2C12EF}"/>
              </a:ext>
            </a:extLst>
          </p:cNvPr>
          <p:cNvSpPr txBox="1"/>
          <p:nvPr/>
        </p:nvSpPr>
        <p:spPr>
          <a:xfrm>
            <a:off x="1791456" y="5520018"/>
            <a:ext cx="22821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tr-T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Priz Modülü (</a:t>
            </a:r>
            <a:r>
              <a:rPr lang="tr-TR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PrMd</a:t>
            </a:r>
            <a:r>
              <a:rPr lang="tr-T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7349ED5-F95E-B554-8A74-A1263FBF7EE6}"/>
              </a:ext>
            </a:extLst>
          </p:cNvPr>
          <p:cNvSpPr txBox="1"/>
          <p:nvPr/>
        </p:nvSpPr>
        <p:spPr>
          <a:xfrm>
            <a:off x="5475479" y="5202377"/>
            <a:ext cx="52283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tr-TR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Kitler (Sağ: Medikal Kit, Sol: Kişisel Kiti)</a:t>
            </a:r>
          </a:p>
        </p:txBody>
      </p:sp>
    </p:spTree>
    <p:extLst>
      <p:ext uri="{BB962C8B-B14F-4D97-AF65-F5344CB8AC3E}">
        <p14:creationId xmlns:p14="http://schemas.microsoft.com/office/powerpoint/2010/main" val="419207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97454-1E1B-9DCC-D5D0-EA728023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F1CC02-4872-5B51-02CB-6DB28AB2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Kitler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37C50B-8702-EDB6-4ED6-53C5F774D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355600">
              <a:lnSpc>
                <a:spcPct val="100000"/>
              </a:lnSpc>
              <a:buNone/>
            </a:pPr>
            <a:r>
              <a:rPr lang="tr-TR" dirty="0"/>
              <a:t>İki tip kit yapılmıştır: </a:t>
            </a:r>
            <a:r>
              <a:rPr lang="tr-TR" dirty="0">
                <a:solidFill>
                  <a:srgbClr val="A5FFAE"/>
                </a:solidFill>
              </a:rPr>
              <a:t>Medikal Kit </a:t>
            </a:r>
            <a:r>
              <a:rPr lang="tr-TR" dirty="0"/>
              <a:t>ve </a:t>
            </a:r>
            <a:r>
              <a:rPr lang="tr-TR" dirty="0">
                <a:solidFill>
                  <a:srgbClr val="A5FFAE"/>
                </a:solidFill>
              </a:rPr>
              <a:t>Kişisel Kit</a:t>
            </a:r>
            <a:r>
              <a:rPr lang="tr-TR" dirty="0"/>
              <a:t>.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Kitler standart bir </a:t>
            </a:r>
            <a:r>
              <a:rPr lang="tr-TR" dirty="0">
                <a:solidFill>
                  <a:srgbClr val="A5FFAE"/>
                </a:solidFill>
              </a:rPr>
              <a:t>cep telefonu boyutunda</a:t>
            </a:r>
            <a:r>
              <a:rPr lang="tr-TR" dirty="0"/>
              <a:t> tasarlanmıştır.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Kitler; sıcaklık, nem, HKI, </a:t>
            </a:r>
            <a:r>
              <a:rPr lang="tr-TR" dirty="0" err="1"/>
              <a:t>tUOB</a:t>
            </a:r>
            <a:r>
              <a:rPr lang="tr-TR" dirty="0"/>
              <a:t>, CO</a:t>
            </a:r>
            <a:r>
              <a:rPr lang="tr-TR" baseline="-25000" dirty="0"/>
              <a:t>2</a:t>
            </a:r>
            <a:r>
              <a:rPr lang="tr-TR" dirty="0"/>
              <a:t>, CO, NH</a:t>
            </a:r>
            <a:r>
              <a:rPr lang="tr-TR" baseline="-25000" dirty="0"/>
              <a:t>3</a:t>
            </a:r>
            <a:r>
              <a:rPr lang="tr-TR" dirty="0"/>
              <a:t>, </a:t>
            </a:r>
            <a:r>
              <a:rPr lang="tr-TR" dirty="0" err="1"/>
              <a:t>NO</a:t>
            </a:r>
            <a:r>
              <a:rPr lang="tr-TR" baseline="-25000" dirty="0" err="1"/>
              <a:t>x</a:t>
            </a:r>
            <a:r>
              <a:rPr lang="tr-TR" dirty="0"/>
              <a:t>, PM</a:t>
            </a:r>
            <a:r>
              <a:rPr lang="tr-TR" baseline="-25000" dirty="0"/>
              <a:t>1</a:t>
            </a:r>
            <a:r>
              <a:rPr lang="tr-TR" dirty="0"/>
              <a:t>, PM</a:t>
            </a:r>
            <a:r>
              <a:rPr lang="tr-TR" baseline="-25000" dirty="0"/>
              <a:t>2.5</a:t>
            </a:r>
            <a:r>
              <a:rPr lang="tr-TR" dirty="0"/>
              <a:t>, PM</a:t>
            </a:r>
            <a:r>
              <a:rPr lang="tr-TR" baseline="-25000" dirty="0"/>
              <a:t>10</a:t>
            </a:r>
            <a:r>
              <a:rPr lang="tr-TR" dirty="0"/>
              <a:t> ve O</a:t>
            </a:r>
            <a:r>
              <a:rPr lang="tr-TR" baseline="-25000" dirty="0"/>
              <a:t>3</a:t>
            </a:r>
            <a:r>
              <a:rPr lang="tr-TR" dirty="0"/>
              <a:t>’nu ölçmektedir.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Her iki kit de ölçümleri, </a:t>
            </a:r>
            <a:r>
              <a:rPr lang="tr-TR" dirty="0">
                <a:solidFill>
                  <a:srgbClr val="A5FFAE"/>
                </a:solidFill>
              </a:rPr>
              <a:t>ölçüm zamanı </a:t>
            </a:r>
            <a:r>
              <a:rPr lang="tr-TR" dirty="0"/>
              <a:t>ve </a:t>
            </a:r>
            <a:r>
              <a:rPr lang="tr-TR" dirty="0">
                <a:solidFill>
                  <a:srgbClr val="A5FFAE"/>
                </a:solidFill>
              </a:rPr>
              <a:t>konumu</a:t>
            </a:r>
            <a:r>
              <a:rPr lang="tr-TR" dirty="0"/>
              <a:t>yla birlikte </a:t>
            </a:r>
            <a:r>
              <a:rPr lang="tr-TR" dirty="0">
                <a:solidFill>
                  <a:srgbClr val="A5FFAE"/>
                </a:solidFill>
              </a:rPr>
              <a:t>mikro SD </a:t>
            </a:r>
            <a:r>
              <a:rPr lang="tr-TR" dirty="0"/>
              <a:t>karta kaydetmektedir. Kişisel Kit bunun yanında bir </a:t>
            </a:r>
            <a:r>
              <a:rPr lang="tr-TR" dirty="0">
                <a:solidFill>
                  <a:srgbClr val="A5FFAE"/>
                </a:solidFill>
              </a:rPr>
              <a:t>veri tabanı</a:t>
            </a:r>
            <a:r>
              <a:rPr lang="tr-TR" dirty="0"/>
              <a:t>na da kayıt yapar.</a:t>
            </a:r>
          </a:p>
        </p:txBody>
      </p:sp>
    </p:spTree>
    <p:extLst>
      <p:ext uri="{BB962C8B-B14F-4D97-AF65-F5344CB8AC3E}">
        <p14:creationId xmlns:p14="http://schemas.microsoft.com/office/powerpoint/2010/main" val="252702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9CC0-F7C7-B30B-DF71-DCD859DE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A2078A-243E-4422-6CBF-E09F75C4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Kitler Arası Farklar</a:t>
            </a:r>
            <a:endParaRPr lang="en-US" dirty="0"/>
          </a:p>
        </p:txBody>
      </p:sp>
      <p:graphicFrame>
        <p:nvGraphicFramePr>
          <p:cNvPr id="6" name="İçerik Yer Tutucusu 5">
            <a:extLst>
              <a:ext uri="{FF2B5EF4-FFF2-40B4-BE49-F238E27FC236}">
                <a16:creationId xmlns:a16="http://schemas.microsoft.com/office/drawing/2014/main" id="{FAEC1B7A-8FB8-8B31-CF6D-6764BD67CC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159795"/>
              </p:ext>
            </p:extLst>
          </p:nvPr>
        </p:nvGraphicFramePr>
        <p:xfrm>
          <a:off x="1782718" y="2115009"/>
          <a:ext cx="8626563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521">
                  <a:extLst>
                    <a:ext uri="{9D8B030D-6E8A-4147-A177-3AD203B41FA5}">
                      <a16:colId xmlns:a16="http://schemas.microsoft.com/office/drawing/2014/main" val="2058436133"/>
                    </a:ext>
                  </a:extLst>
                </a:gridCol>
                <a:gridCol w="2875521">
                  <a:extLst>
                    <a:ext uri="{9D8B030D-6E8A-4147-A177-3AD203B41FA5}">
                      <a16:colId xmlns:a16="http://schemas.microsoft.com/office/drawing/2014/main" val="44464863"/>
                    </a:ext>
                  </a:extLst>
                </a:gridCol>
                <a:gridCol w="2875521">
                  <a:extLst>
                    <a:ext uri="{9D8B030D-6E8A-4147-A177-3AD203B41FA5}">
                      <a16:colId xmlns:a16="http://schemas.microsoft.com/office/drawing/2014/main" val="957981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Özellik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Kişisel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Medikal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608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Dokunmatik ekran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YOK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68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Telefona bağlanıp veri tabanına kayıt yapabilme</a:t>
                      </a:r>
                      <a:endParaRPr lang="en-US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YOK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012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Alarm değer belirlenebilme</a:t>
                      </a:r>
                      <a:endParaRPr lang="en-US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YOK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64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b="1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PrMd</a:t>
                      </a:r>
                      <a:r>
                        <a:rPr lang="tr-TR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 ile çalışabilme</a:t>
                      </a:r>
                      <a:endParaRPr lang="en-US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YOK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81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SD karta kayıt yapabilme</a:t>
                      </a:r>
                      <a:endParaRPr lang="en-US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41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Ekran</a:t>
                      </a:r>
                      <a:endParaRPr lang="en-US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5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</a:rPr>
                        <a:t>Kayıt butonu</a:t>
                      </a:r>
                      <a:endParaRPr lang="en-US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VAR</a:t>
                      </a:r>
                      <a:endParaRPr lang="en-US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272019"/>
                  </a:ext>
                </a:extLst>
              </a:tr>
            </a:tbl>
          </a:graphicData>
        </a:graphic>
      </p:graphicFrame>
      <p:sp>
        <p:nvSpPr>
          <p:cNvPr id="3" name="Metin kutusu 2">
            <a:extLst>
              <a:ext uri="{FF2B5EF4-FFF2-40B4-BE49-F238E27FC236}">
                <a16:creationId xmlns:a16="http://schemas.microsoft.com/office/drawing/2014/main" id="{BA59352D-A324-22CF-6181-03CAF50E5BD5}"/>
              </a:ext>
            </a:extLst>
          </p:cNvPr>
          <p:cNvSpPr txBox="1"/>
          <p:nvPr/>
        </p:nvSpPr>
        <p:spPr>
          <a:xfrm>
            <a:off x="1782718" y="1807232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Tablo 1: </a:t>
            </a:r>
            <a:r>
              <a:rPr lang="tr-TR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Kitler arasındaki farklar ve benzerlikler</a:t>
            </a:r>
            <a:endParaRPr lang="tr-TR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403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010A-9131-78CC-2EDD-06AD0999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EAABA7-1419-CD7F-A57C-7A9CC784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Medikal Kit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A67B5A-4BE3-44DE-2789-92B90E5A6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9817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/>
              <a:t>Medikal Kit; </a:t>
            </a:r>
            <a:r>
              <a:rPr lang="tr-TR" dirty="0">
                <a:solidFill>
                  <a:srgbClr val="A5FFAE"/>
                </a:solidFill>
              </a:rPr>
              <a:t>doktorlar tarafından </a:t>
            </a:r>
            <a:r>
              <a:rPr lang="tr-TR" dirty="0"/>
              <a:t>hastalara verilerek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hastalarının yaşam ortamlarındaki </a:t>
            </a:r>
            <a:r>
              <a:rPr lang="tr-TR" dirty="0">
                <a:solidFill>
                  <a:srgbClr val="A5FFAE"/>
                </a:solidFill>
              </a:rPr>
              <a:t>hava kalitesini</a:t>
            </a:r>
            <a:r>
              <a:rPr lang="tr-TR" dirty="0"/>
              <a:t> öğrenmelerini,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tanı</a:t>
            </a:r>
            <a:r>
              <a:rPr lang="tr-TR" dirty="0"/>
              <a:t> koymalarını,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tedavi yöntemi</a:t>
            </a:r>
            <a:r>
              <a:rPr lang="tr-TR" dirty="0"/>
              <a:t> seçmelerini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>
                <a:solidFill>
                  <a:srgbClr val="A5FFAE"/>
                </a:solidFill>
              </a:rPr>
              <a:t>kolaylaştırmak</a:t>
            </a:r>
            <a:r>
              <a:rPr lang="tr-TR" dirty="0"/>
              <a:t> amacıyla yapılmıştır.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279CE72-3459-0EE8-3DFF-92ACCE2BC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743546" y="2813519"/>
            <a:ext cx="4852792" cy="224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079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4639-4D3A-91E2-EA79-0C151069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8ED944-260E-AAE8-7B64-01D2F48E3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Kişisel Kit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2383D9-0030-D711-9C34-E60BBAA8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59366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/>
              <a:t>Kişisel Kit, </a:t>
            </a:r>
            <a:r>
              <a:rPr lang="tr-TR" dirty="0">
                <a:solidFill>
                  <a:srgbClr val="A5FFAE"/>
                </a:solidFill>
              </a:rPr>
              <a:t>hava kirliliğinden etkilenen kişilerin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yanlarında taşıyarak bulundukları ortamın anlık ölçümlerini görmeleri ve önlem alabilmelerini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/>
              <a:t>kolaylaştırmak amacıyla yapılmıştır. Ayrıca,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Ölçüm verilerini bir </a:t>
            </a:r>
            <a:r>
              <a:rPr lang="tr-TR" dirty="0">
                <a:solidFill>
                  <a:srgbClr val="A5FFAE"/>
                </a:solidFill>
              </a:rPr>
              <a:t>veri tabanına </a:t>
            </a:r>
            <a:r>
              <a:rPr lang="tr-TR" dirty="0"/>
              <a:t>kaydeder. </a:t>
            </a:r>
          </a:p>
          <a:p>
            <a:pPr lvl="1">
              <a:lnSpc>
                <a:spcPct val="100000"/>
              </a:lnSpc>
            </a:pPr>
            <a:r>
              <a:rPr lang="tr-TR" dirty="0"/>
              <a:t>Ölçümler set edilen </a:t>
            </a:r>
            <a:r>
              <a:rPr lang="tr-TR" dirty="0">
                <a:solidFill>
                  <a:srgbClr val="A5FFAE"/>
                </a:solidFill>
              </a:rPr>
              <a:t>alarm değerlerini </a:t>
            </a:r>
            <a:r>
              <a:rPr lang="tr-TR" dirty="0"/>
              <a:t>aştığında </a:t>
            </a:r>
            <a:r>
              <a:rPr lang="tr-TR" dirty="0" err="1">
                <a:solidFill>
                  <a:srgbClr val="A5FFAE"/>
                </a:solidFill>
              </a:rPr>
              <a:t>PrMd</a:t>
            </a:r>
            <a:r>
              <a:rPr lang="tr-TR" dirty="0" err="1"/>
              <a:t>’yi</a:t>
            </a:r>
            <a:r>
              <a:rPr lang="tr-TR" dirty="0"/>
              <a:t> aktifleştirerek </a:t>
            </a:r>
            <a:r>
              <a:rPr lang="tr-TR" dirty="0" err="1"/>
              <a:t>PrMd’ye</a:t>
            </a:r>
            <a:r>
              <a:rPr lang="tr-TR" dirty="0"/>
              <a:t> bağlı cihazların çalışmasını sağlar.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C0CEC-9899-AC9F-68AB-9356231FC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743547" y="2813519"/>
            <a:ext cx="4852791" cy="224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539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4C79B-6D84-0250-3062-374F5C66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613837-AB78-F0C9-2047-C1ED6CE4E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Kitler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F4E6D5-1850-389E-7B88-6564C7592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8143672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Mikrodenetleyici Kartı: </a:t>
            </a:r>
            <a:r>
              <a:rPr lang="tr-TR" dirty="0"/>
              <a:t>ESP32-DevKitC-V4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Ekran:</a:t>
            </a:r>
            <a:r>
              <a:rPr lang="tr-TR" b="1" dirty="0"/>
              <a:t> </a:t>
            </a:r>
            <a:r>
              <a:rPr lang="tr-TR" dirty="0"/>
              <a:t>SSD1306 </a:t>
            </a:r>
            <a:r>
              <a:rPr lang="tr-TR" i="1" dirty="0"/>
              <a:t>(Medikal Kit)</a:t>
            </a:r>
            <a:r>
              <a:rPr lang="tr-TR" dirty="0"/>
              <a:t>, NX4827P043 </a:t>
            </a:r>
            <a:r>
              <a:rPr lang="tr-TR" i="1" dirty="0"/>
              <a:t>(Kişisel Kit)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Sensörler:</a:t>
            </a:r>
            <a:r>
              <a:rPr lang="tr-TR" dirty="0">
                <a:solidFill>
                  <a:srgbClr val="A5FFAE"/>
                </a:solidFill>
              </a:rPr>
              <a:t> </a:t>
            </a:r>
            <a:r>
              <a:rPr lang="tr-TR" dirty="0"/>
              <a:t>ENS210, ENS160, MICS-6814, MQ131, PMS7003, GY-521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Yardımcı Modüller:</a:t>
            </a:r>
            <a:r>
              <a:rPr lang="tr-TR" dirty="0"/>
              <a:t> DS3231, NEO-6M, Mikro SD Kart Adaptörü</a:t>
            </a:r>
          </a:p>
          <a:p>
            <a:pPr>
              <a:lnSpc>
                <a:spcPct val="100000"/>
              </a:lnSpc>
            </a:pPr>
            <a:r>
              <a:rPr lang="nn-NO" dirty="0"/>
              <a:t>Diğer Elektrik/Elektronik Elemanlar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tr-TR" dirty="0"/>
              <a:t>3B parçalar ve Baskılı Devre Kartı (PCB)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D56867F3-AD94-44C7-3183-6BDF2C3FA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5" r="13648"/>
          <a:stretch>
            <a:fillRect/>
          </a:stretch>
        </p:blipFill>
        <p:spPr>
          <a:xfrm>
            <a:off x="9174804" y="1807731"/>
            <a:ext cx="2375170" cy="438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62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7A65-7118-A3E0-D3E5-511418A0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217FB6-61B1-DDCD-5734-F11A9016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Priz Modülü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EB6795-0D51-9249-48F6-0872F0E03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3774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/>
              <a:t>Priz Modülü (</a:t>
            </a:r>
            <a:r>
              <a:rPr lang="tr-TR" dirty="0" err="1"/>
              <a:t>PrMd</a:t>
            </a:r>
            <a:r>
              <a:rPr lang="tr-TR" dirty="0"/>
              <a:t>), Kişisel Kit ile çalışan ve üzerinde </a:t>
            </a:r>
            <a:r>
              <a:rPr lang="tr-TR" dirty="0">
                <a:solidFill>
                  <a:srgbClr val="A5FFAE"/>
                </a:solidFill>
              </a:rPr>
              <a:t>iki adet priz</a:t>
            </a:r>
            <a:r>
              <a:rPr lang="tr-TR" dirty="0"/>
              <a:t> bulunan bir modüldür. </a:t>
            </a:r>
          </a:p>
          <a:p>
            <a:pPr>
              <a:lnSpc>
                <a:spcPct val="100000"/>
              </a:lnSpc>
            </a:pPr>
            <a:r>
              <a:rPr lang="tr-TR" dirty="0" err="1"/>
              <a:t>PrMd</a:t>
            </a:r>
            <a:r>
              <a:rPr lang="tr-TR" dirty="0"/>
              <a:t>, Kişisel </a:t>
            </a:r>
            <a:r>
              <a:rPr lang="tr-TR" dirty="0" err="1"/>
              <a:t>Kit’ten</a:t>
            </a:r>
            <a:r>
              <a:rPr lang="tr-TR" dirty="0"/>
              <a:t> </a:t>
            </a:r>
            <a:r>
              <a:rPr lang="tr-TR" dirty="0">
                <a:solidFill>
                  <a:srgbClr val="A5FFAE"/>
                </a:solidFill>
              </a:rPr>
              <a:t>uyarı sinyali </a:t>
            </a:r>
            <a:r>
              <a:rPr lang="tr-TR" dirty="0"/>
              <a:t>aldığında üzerindeki prizi aktif hale getirmektedir. </a:t>
            </a:r>
          </a:p>
          <a:p>
            <a:pPr>
              <a:lnSpc>
                <a:spcPct val="100000"/>
              </a:lnSpc>
            </a:pPr>
            <a:r>
              <a:rPr lang="tr-TR" dirty="0" err="1"/>
              <a:t>PrMd'ye</a:t>
            </a:r>
            <a:r>
              <a:rPr lang="tr-TR" dirty="0"/>
              <a:t> bağlanan hava temizleme üniteleri, oda nemlendiricileri vb. sistemler yalnızca </a:t>
            </a:r>
            <a:r>
              <a:rPr lang="tr-TR" dirty="0">
                <a:solidFill>
                  <a:srgbClr val="A5FFAE"/>
                </a:solidFill>
              </a:rPr>
              <a:t>gerekli olduğunda </a:t>
            </a:r>
            <a:r>
              <a:rPr lang="tr-TR" dirty="0"/>
              <a:t>çalışarak </a:t>
            </a:r>
            <a:r>
              <a:rPr lang="tr-TR" dirty="0">
                <a:solidFill>
                  <a:srgbClr val="A5FFAE"/>
                </a:solidFill>
              </a:rPr>
              <a:t>enerji tasarrufu</a:t>
            </a:r>
            <a:r>
              <a:rPr lang="tr-TR" dirty="0"/>
              <a:t> sağlar. 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A229381-F97B-C2A3-42F5-3E7450FD78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6" b="22644"/>
          <a:stretch>
            <a:fillRect/>
          </a:stretch>
        </p:blipFill>
        <p:spPr bwMode="auto">
          <a:xfrm>
            <a:off x="8593777" y="1906588"/>
            <a:ext cx="2815088" cy="418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455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95AF-3F68-F9BF-42FE-666831A0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1F0927-017D-DA47-DB40-1D222B75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Priz Modülü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26EB78-0E20-39AD-2DD2-EAF072D12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371945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Mikrodenetleyici Kartı: </a:t>
            </a:r>
            <a:r>
              <a:rPr lang="tr-TR" dirty="0"/>
              <a:t>ESP8266-01 </a:t>
            </a:r>
          </a:p>
          <a:p>
            <a:pPr>
              <a:lnSpc>
                <a:spcPct val="100000"/>
              </a:lnSpc>
            </a:pPr>
            <a:r>
              <a:rPr lang="tr-TR" dirty="0"/>
              <a:t>20 VAC / 7.5 VAC 1 W trafo, 10 A sigorta (220 VAC bölgesi için),</a:t>
            </a:r>
          </a:p>
          <a:p>
            <a:pPr>
              <a:lnSpc>
                <a:spcPct val="100000"/>
              </a:lnSpc>
            </a:pPr>
            <a:r>
              <a:rPr lang="tr-TR" dirty="0"/>
              <a:t>220 VAC, 30 </a:t>
            </a:r>
            <a:r>
              <a:rPr lang="tr-TR" dirty="0" err="1"/>
              <a:t>mA</a:t>
            </a:r>
            <a:r>
              <a:rPr lang="tr-TR" dirty="0"/>
              <a:t> 2x20 A </a:t>
            </a:r>
            <a:r>
              <a:rPr lang="tr-TR" dirty="0" err="1"/>
              <a:t>monofaze</a:t>
            </a:r>
            <a:r>
              <a:rPr lang="tr-TR" dirty="0"/>
              <a:t> kaçak akım rölesi ve ikili priz,</a:t>
            </a:r>
          </a:p>
          <a:p>
            <a:pPr>
              <a:lnSpc>
                <a:spcPct val="100000"/>
              </a:lnSpc>
            </a:pPr>
            <a:r>
              <a:rPr lang="tr-TR" dirty="0"/>
              <a:t>24 VDC, 4 kontak 16A sanayi tipi röle ve röle soketi</a:t>
            </a:r>
          </a:p>
        </p:txBody>
      </p:sp>
      <p:pic>
        <p:nvPicPr>
          <p:cNvPr id="4" name="Resim 3" descr="C:\Users\dozsoy\Desktop\__GENEL\Dersler\Barkın_Proje\Askıda_Madde_Barkın\Proje_Raporu\Proje_Foto\Resim-11.jpg">
            <a:extLst>
              <a:ext uri="{FF2B5EF4-FFF2-40B4-BE49-F238E27FC236}">
                <a16:creationId xmlns:a16="http://schemas.microsoft.com/office/drawing/2014/main" id="{1FA60049-F621-66B6-1753-946F181B06D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649" y="2076117"/>
            <a:ext cx="3312368" cy="3850354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469425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DAEB-5D3C-04AA-1609-CF12DB9C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14AC99-AED0-05B7-6340-3F073129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dirty="0"/>
              <a:t>Testler</a:t>
            </a:r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C9C4D6-2087-7FF7-80E6-6634BE06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/>
              <a:t>Sensörlerin hassasiyetini ölçmek için iki tür test yapılmıştır: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Akredite ölçüm ekipmanları </a:t>
            </a:r>
            <a:r>
              <a:rPr lang="tr-TR" dirty="0"/>
              <a:t>ile farklı ortamlarda </a:t>
            </a:r>
            <a:r>
              <a:rPr lang="tr-TR" dirty="0">
                <a:solidFill>
                  <a:srgbClr val="A5FFAE"/>
                </a:solidFill>
              </a:rPr>
              <a:t>karşılaştırmalı ölçümler</a:t>
            </a:r>
            <a:r>
              <a:rPr lang="tr-TR" dirty="0"/>
              <a:t>,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</a:rPr>
              <a:t>Referans değerlere karşı </a:t>
            </a:r>
            <a:r>
              <a:rPr lang="tr-TR" dirty="0"/>
              <a:t>içeriği </a:t>
            </a:r>
            <a:r>
              <a:rPr lang="tr-TR" dirty="0">
                <a:solidFill>
                  <a:srgbClr val="A5FFAE"/>
                </a:solidFill>
              </a:rPr>
              <a:t>bilinen gaz karışımların</a:t>
            </a:r>
            <a:r>
              <a:rPr lang="tr-TR" dirty="0"/>
              <a:t> ölçümleri.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/>
              <a:t>İstatiksel analizler için açık kaynak ve kod </a:t>
            </a:r>
            <a:r>
              <a:rPr lang="tr-TR" dirty="0" err="1">
                <a:solidFill>
                  <a:srgbClr val="A5FFAE"/>
                </a:solidFill>
              </a:rPr>
              <a:t>Rstudio</a:t>
            </a:r>
            <a:r>
              <a:rPr lang="tr-TR" dirty="0">
                <a:solidFill>
                  <a:srgbClr val="A5FFAE"/>
                </a:solidFill>
              </a:rPr>
              <a:t> IDE </a:t>
            </a:r>
            <a:r>
              <a:rPr lang="tr-TR" dirty="0"/>
              <a:t>kullanılmıştır.</a:t>
            </a:r>
          </a:p>
        </p:txBody>
      </p:sp>
    </p:spTree>
    <p:extLst>
      <p:ext uri="{BB962C8B-B14F-4D97-AF65-F5344CB8AC3E}">
        <p14:creationId xmlns:p14="http://schemas.microsoft.com/office/powerpoint/2010/main" val="1172211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6711D-C0B1-F1D0-5BC3-8B73DDBDA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BA8B6C-A80D-C094-C1E5-218C6F3D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b="1" dirty="0"/>
              <a:t>Karşılaştırmalı Ölçümler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83734E-B306-C44C-5C4F-172E351B2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6804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/>
              <a:t>Akredite ölçüm ekipmanları olan bir sanayi kuruluşunun sahasında </a:t>
            </a:r>
            <a:r>
              <a:rPr lang="tr-TR" dirty="0">
                <a:solidFill>
                  <a:srgbClr val="A5FFAE"/>
                </a:solidFill>
              </a:rPr>
              <a:t>altı farklı noktada </a:t>
            </a:r>
            <a:r>
              <a:rPr lang="tr-TR" dirty="0"/>
              <a:t>kontrol ölçümleri yapılmıştır. 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Test edilen ölçümler: </a:t>
            </a:r>
            <a:r>
              <a:rPr lang="tr-TR" dirty="0"/>
              <a:t>sıcaklık, nem, PM</a:t>
            </a:r>
            <a:r>
              <a:rPr lang="tr-TR" baseline="-25000" dirty="0"/>
              <a:t>10</a:t>
            </a:r>
            <a:r>
              <a:rPr lang="tr-TR" dirty="0"/>
              <a:t>, CO</a:t>
            </a:r>
            <a:r>
              <a:rPr lang="tr-TR" baseline="-25000" dirty="0"/>
              <a:t>2</a:t>
            </a:r>
            <a:r>
              <a:rPr lang="tr-TR" dirty="0"/>
              <a:t>, CO, </a:t>
            </a:r>
            <a:r>
              <a:rPr lang="tr-TR" dirty="0" err="1"/>
              <a:t>tUOB</a:t>
            </a:r>
            <a:r>
              <a:rPr lang="tr-TR" dirty="0"/>
              <a:t> 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</a:rPr>
              <a:t>Kullanılan kontrol ölçüm cihazları:</a:t>
            </a:r>
            <a:r>
              <a:rPr lang="tr-TR" dirty="0">
                <a:solidFill>
                  <a:srgbClr val="A5FFAE"/>
                </a:solidFill>
              </a:rPr>
              <a:t> </a:t>
            </a:r>
            <a:r>
              <a:rPr lang="tr-TR" dirty="0" err="1"/>
              <a:t>Turnkey</a:t>
            </a:r>
            <a:r>
              <a:rPr lang="tr-TR" dirty="0"/>
              <a:t> DM11928, </a:t>
            </a:r>
            <a:r>
              <a:rPr lang="tr-TR" dirty="0" err="1"/>
              <a:t>Riken</a:t>
            </a:r>
            <a:r>
              <a:rPr lang="tr-TR" dirty="0"/>
              <a:t> </a:t>
            </a:r>
            <a:r>
              <a:rPr lang="tr-TR" dirty="0" err="1"/>
              <a:t>Keiki</a:t>
            </a:r>
            <a:r>
              <a:rPr lang="tr-TR" dirty="0"/>
              <a:t> GX-3R Pro, PCE-VOC 1</a:t>
            </a:r>
          </a:p>
        </p:txBody>
      </p:sp>
      <p:pic>
        <p:nvPicPr>
          <p:cNvPr id="4" name="image18.jpg">
            <a:extLst>
              <a:ext uri="{FF2B5EF4-FFF2-40B4-BE49-F238E27FC236}">
                <a16:creationId xmlns:a16="http://schemas.microsoft.com/office/drawing/2014/main" id="{A25277B2-07BD-3986-315C-6353A6A5504C}"/>
              </a:ext>
            </a:extLst>
          </p:cNvPr>
          <p:cNvPicPr/>
          <p:nvPr/>
        </p:nvPicPr>
        <p:blipFill>
          <a:blip r:embed="rId2"/>
          <a:srcRect l="11594" t="3949" r="11594" b="10395"/>
          <a:stretch>
            <a:fillRect/>
          </a:stretch>
        </p:blipFill>
        <p:spPr>
          <a:xfrm rot="10800000">
            <a:off x="8097304" y="2678316"/>
            <a:ext cx="3256496" cy="26459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35830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7538-A4E6-B039-00E2-AD7EE940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F56DC0-F562-5DD3-815F-8CE83BD9A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YÖNTEM: </a:t>
            </a:r>
            <a:r>
              <a:rPr lang="tr-TR" b="1" dirty="0"/>
              <a:t>Referans Değerlere Karşı 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AD95FE-B89F-944A-342A-FF9DE7743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6106" cy="4351338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Hava geçirmez bir düzenek hazırlanmıştır. 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Düzeneğin sızdırmazlığı test edilmiştir.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Her bir test arasında, sistem N</a:t>
            </a:r>
            <a:r>
              <a:rPr lang="tr-TR" baseline="-25000" dirty="0">
                <a:latin typeface="Franklin Gothic Book" panose="020B0503020102020204" pitchFamily="34" charset="0"/>
              </a:rPr>
              <a:t>2</a:t>
            </a:r>
            <a:r>
              <a:rPr lang="tr-TR" dirty="0">
                <a:latin typeface="Franklin Gothic Book" panose="020B0503020102020204" pitchFamily="34" charset="0"/>
              </a:rPr>
              <a:t> gazı ile temizlenerek testlerin güvenilirliği artırılmıştır.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Testler için gereken gazlar </a:t>
            </a:r>
            <a:r>
              <a:rPr lang="tr-TR" dirty="0" err="1">
                <a:latin typeface="Franklin Gothic Book" panose="020B0503020102020204" pitchFamily="34" charset="0"/>
              </a:rPr>
              <a:t>EGESAM’dan</a:t>
            </a:r>
            <a:r>
              <a:rPr lang="tr-TR" dirty="0">
                <a:latin typeface="Franklin Gothic Book" panose="020B0503020102020204" pitchFamily="34" charset="0"/>
              </a:rPr>
              <a:t> temin edilerek, </a:t>
            </a:r>
            <a:r>
              <a:rPr lang="tr-TR" dirty="0" err="1">
                <a:latin typeface="Franklin Gothic Book" panose="020B0503020102020204" pitchFamily="34" charset="0"/>
              </a:rPr>
              <a:t>EGESAM’ın</a:t>
            </a:r>
            <a:r>
              <a:rPr lang="tr-TR" dirty="0">
                <a:latin typeface="Franklin Gothic Book" panose="020B0503020102020204" pitchFamily="34" charset="0"/>
              </a:rPr>
              <a:t> gözetimi altında ve laboratuvar kurallarına uygun şekilde yürütülmüştür. </a:t>
            </a:r>
          </a:p>
          <a:p>
            <a:pPr>
              <a:lnSpc>
                <a:spcPct val="100000"/>
              </a:lnSpc>
            </a:pPr>
            <a:r>
              <a:rPr lang="tr-TR" b="1" dirty="0">
                <a:solidFill>
                  <a:srgbClr val="A5FFAE"/>
                </a:solidFill>
                <a:latin typeface="Franklin Gothic Book" panose="020B0503020102020204" pitchFamily="34" charset="0"/>
              </a:rPr>
              <a:t>Test edilen ölçümler: </a:t>
            </a:r>
            <a:r>
              <a:rPr lang="tr-TR" dirty="0" err="1">
                <a:latin typeface="Franklin Gothic Book" panose="020B0503020102020204" pitchFamily="34" charset="0"/>
              </a:rPr>
              <a:t>tUOB</a:t>
            </a:r>
            <a:r>
              <a:rPr lang="tr-TR" dirty="0">
                <a:latin typeface="Franklin Gothic Book" panose="020B0503020102020204" pitchFamily="34" charset="0"/>
              </a:rPr>
              <a:t> ve </a:t>
            </a:r>
            <a:r>
              <a:rPr lang="tr-TR" dirty="0" err="1">
                <a:latin typeface="Franklin Gothic Book" panose="020B0503020102020204" pitchFamily="34" charset="0"/>
              </a:rPr>
              <a:t>NO</a:t>
            </a:r>
            <a:r>
              <a:rPr lang="tr-TR" baseline="-25000" dirty="0" err="1">
                <a:latin typeface="Franklin Gothic Book" panose="020B0503020102020204" pitchFamily="34" charset="0"/>
              </a:rPr>
              <a:t>x</a:t>
            </a:r>
            <a:endParaRPr lang="tr-TR" dirty="0">
              <a:latin typeface="Franklin Gothic Book" panose="020B0503020102020204" pitchFamily="34" charset="0"/>
            </a:endParaRPr>
          </a:p>
        </p:txBody>
      </p:sp>
      <p:pic>
        <p:nvPicPr>
          <p:cNvPr id="5" name="image20.jpg">
            <a:extLst>
              <a:ext uri="{FF2B5EF4-FFF2-40B4-BE49-F238E27FC236}">
                <a16:creationId xmlns:a16="http://schemas.microsoft.com/office/drawing/2014/main" id="{CB23F793-24A2-A7DA-258B-3FBBB4C481A1}"/>
              </a:ext>
            </a:extLst>
          </p:cNvPr>
          <p:cNvPicPr/>
          <p:nvPr/>
        </p:nvPicPr>
        <p:blipFill>
          <a:blip r:embed="rId2"/>
          <a:srcRect l="4354" t="4558" r="14553" b="8555"/>
          <a:stretch>
            <a:fillRect/>
          </a:stretch>
        </p:blipFill>
        <p:spPr>
          <a:xfrm>
            <a:off x="8793805" y="1554804"/>
            <a:ext cx="2211421" cy="485199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50239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1966-87AE-CDB3-D647-2372FA42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6507BCF-405B-A059-0085-42B4B160F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Test Sonuçları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327BC34D-3771-B858-E810-176C6006F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166035"/>
              </p:ext>
            </p:extLst>
          </p:nvPr>
        </p:nvGraphicFramePr>
        <p:xfrm>
          <a:off x="499355" y="2500076"/>
          <a:ext cx="5940365" cy="2477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9045">
                  <a:extLst>
                    <a:ext uri="{9D8B030D-6E8A-4147-A177-3AD203B41FA5}">
                      <a16:colId xmlns:a16="http://schemas.microsoft.com/office/drawing/2014/main" val="2202044930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3984968433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2103976396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1957318367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3397190133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1394480003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1890875080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253150422"/>
                    </a:ext>
                  </a:extLst>
                </a:gridCol>
                <a:gridCol w="658915">
                  <a:extLst>
                    <a:ext uri="{9D8B030D-6E8A-4147-A177-3AD203B41FA5}">
                      <a16:colId xmlns:a16="http://schemas.microsoft.com/office/drawing/2014/main" val="1593967904"/>
                    </a:ext>
                  </a:extLst>
                </a:gridCol>
              </a:tblGrid>
              <a:tr h="309695">
                <a:tc rowSpan="2"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Ölçüm No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tr-TR" sz="1400" baseline="-250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tr-TR" sz="1400" baseline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 (µg/m</a:t>
                      </a:r>
                      <a:r>
                        <a:rPr lang="tr-TR" sz="1400" baseline="300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tr-TR" sz="1400" baseline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CO</a:t>
                      </a:r>
                      <a:r>
                        <a:rPr lang="tr-TR" sz="1400" baseline="-250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tr-TR" sz="1400" baseline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 (ppm)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CO (ppm)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tUOB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tr-TR" sz="1400" baseline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(µg/m</a:t>
                      </a:r>
                      <a:r>
                        <a:rPr lang="tr-TR" sz="1400" baseline="300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tr-TR" sz="1400" baseline="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50796"/>
                  </a:ext>
                </a:extLst>
              </a:tr>
              <a:tr h="3096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3753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1230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1270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536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512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512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496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6644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850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865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812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835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253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265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68886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1005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1025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630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615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476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489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00398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751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782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1300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1362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286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37826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987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1012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1245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1231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369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386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86799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1423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1503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1054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1087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613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597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924897"/>
                  </a:ext>
                </a:extLst>
              </a:tr>
            </a:tbl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D7331B57-F957-C96A-D0BB-63559F66E855}"/>
              </a:ext>
            </a:extLst>
          </p:cNvPr>
          <p:cNvSpPr txBox="1"/>
          <p:nvPr/>
        </p:nvSpPr>
        <p:spPr>
          <a:xfrm>
            <a:off x="499355" y="4977635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aseline="300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</a:t>
            </a:r>
            <a:r>
              <a:rPr lang="tr-TR" sz="14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KC</a:t>
            </a:r>
            <a:r>
              <a:rPr lang="tr-TR" sz="14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: Kontrol Cihazı veri seti </a:t>
            </a:r>
            <a:r>
              <a:rPr lang="tr-TR" sz="1400" baseline="300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b</a:t>
            </a:r>
            <a:r>
              <a:rPr lang="tr-TR" sz="14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KK</a:t>
            </a:r>
            <a:r>
              <a:rPr lang="tr-TR" sz="14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: Kişisel Kit veri seti</a:t>
            </a:r>
          </a:p>
        </p:txBody>
      </p:sp>
      <p:graphicFrame>
        <p:nvGraphicFramePr>
          <p:cNvPr id="9" name="İçerik Yer Tutucusu 3">
            <a:extLst>
              <a:ext uri="{FF2B5EF4-FFF2-40B4-BE49-F238E27FC236}">
                <a16:creationId xmlns:a16="http://schemas.microsoft.com/office/drawing/2014/main" id="{939BC54F-F8AB-0B11-64E0-B8B89DF572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9400396"/>
              </p:ext>
            </p:extLst>
          </p:nvPr>
        </p:nvGraphicFramePr>
        <p:xfrm>
          <a:off x="6989324" y="2500076"/>
          <a:ext cx="4672517" cy="2477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6197">
                  <a:extLst>
                    <a:ext uri="{9D8B030D-6E8A-4147-A177-3AD203B41FA5}">
                      <a16:colId xmlns:a16="http://schemas.microsoft.com/office/drawing/2014/main" val="2202044930"/>
                    </a:ext>
                  </a:extLst>
                </a:gridCol>
                <a:gridCol w="989080">
                  <a:extLst>
                    <a:ext uri="{9D8B030D-6E8A-4147-A177-3AD203B41FA5}">
                      <a16:colId xmlns:a16="http://schemas.microsoft.com/office/drawing/2014/main" val="3984968433"/>
                    </a:ext>
                  </a:extLst>
                </a:gridCol>
                <a:gridCol w="989080">
                  <a:extLst>
                    <a:ext uri="{9D8B030D-6E8A-4147-A177-3AD203B41FA5}">
                      <a16:colId xmlns:a16="http://schemas.microsoft.com/office/drawing/2014/main" val="2103976396"/>
                    </a:ext>
                  </a:extLst>
                </a:gridCol>
                <a:gridCol w="989080">
                  <a:extLst>
                    <a:ext uri="{9D8B030D-6E8A-4147-A177-3AD203B41FA5}">
                      <a16:colId xmlns:a16="http://schemas.microsoft.com/office/drawing/2014/main" val="1957318367"/>
                    </a:ext>
                  </a:extLst>
                </a:gridCol>
                <a:gridCol w="989080">
                  <a:extLst>
                    <a:ext uri="{9D8B030D-6E8A-4147-A177-3AD203B41FA5}">
                      <a16:colId xmlns:a16="http://schemas.microsoft.com/office/drawing/2014/main" val="3397190133"/>
                    </a:ext>
                  </a:extLst>
                </a:gridCol>
              </a:tblGrid>
              <a:tr h="309695">
                <a:tc rowSpan="2"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Ölçüm No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tr-TR" sz="1400" baseline="-25000" dirty="0"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tr-TR" sz="1400" baseline="0" dirty="0"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 (ppm)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tUOB</a:t>
                      </a:r>
                      <a:r>
                        <a:rPr lang="tr-TR" sz="1400" baseline="0" dirty="0"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 (µg/m</a:t>
                      </a:r>
                      <a:r>
                        <a:rPr lang="tr-TR" sz="1400" baseline="30000" dirty="0"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tr-TR" sz="1400" baseline="0" dirty="0"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50796"/>
                  </a:ext>
                </a:extLst>
              </a:tr>
              <a:tr h="309695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RD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RD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3753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1,1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212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6644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2,5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2,4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342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68886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4,2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750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762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00398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5,9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1000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1021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37826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6,9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1500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1483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86799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8,2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8,4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2500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2543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924897"/>
                  </a:ext>
                </a:extLst>
              </a:tr>
            </a:tbl>
          </a:graphicData>
        </a:graphic>
      </p:graphicFrame>
      <p:sp>
        <p:nvSpPr>
          <p:cNvPr id="10" name="Metin kutusu 9">
            <a:extLst>
              <a:ext uri="{FF2B5EF4-FFF2-40B4-BE49-F238E27FC236}">
                <a16:creationId xmlns:a16="http://schemas.microsoft.com/office/drawing/2014/main" id="{B86E19D2-1F99-71B2-15B4-B917816285C8}"/>
              </a:ext>
            </a:extLst>
          </p:cNvPr>
          <p:cNvSpPr txBox="1"/>
          <p:nvPr/>
        </p:nvSpPr>
        <p:spPr>
          <a:xfrm>
            <a:off x="6994189" y="4977636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aseline="300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</a:t>
            </a:r>
            <a:r>
              <a:rPr lang="tr-TR" sz="14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RD</a:t>
            </a:r>
            <a:r>
              <a:rPr lang="tr-TR" sz="14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: Referans Değer veri seti </a:t>
            </a:r>
            <a:r>
              <a:rPr lang="tr-TR" sz="1400" baseline="300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b</a:t>
            </a:r>
            <a:r>
              <a:rPr lang="tr-TR" sz="14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KK</a:t>
            </a:r>
            <a:r>
              <a:rPr lang="tr-TR" sz="14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: Kişisel Kit veri seti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52A46F21-FFE3-F91C-5B82-E67E4738EB82}"/>
              </a:ext>
            </a:extLst>
          </p:cNvPr>
          <p:cNvSpPr txBox="1"/>
          <p:nvPr/>
        </p:nvSpPr>
        <p:spPr>
          <a:xfrm>
            <a:off x="499355" y="2192298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Tablo 2: </a:t>
            </a:r>
            <a:r>
              <a:rPr lang="tr-TR" sz="1400" i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Karşılaştırmalı ölçüm sonuçları</a:t>
            </a:r>
            <a:endParaRPr lang="tr-TR" sz="1400" b="1" dirty="0">
              <a:solidFill>
                <a:schemeClr val="bg1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C6A7272-A540-99BC-8D74-913D054BD3F8}"/>
              </a:ext>
            </a:extLst>
          </p:cNvPr>
          <p:cNvSpPr txBox="1"/>
          <p:nvPr/>
        </p:nvSpPr>
        <p:spPr>
          <a:xfrm>
            <a:off x="6989324" y="2192298"/>
            <a:ext cx="4682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Tablo 3: </a:t>
            </a:r>
            <a:r>
              <a:rPr lang="tr-TR" sz="1400" i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Referans değerlere karşı ölçüm sonuçları</a:t>
            </a:r>
            <a:endParaRPr lang="tr-TR" sz="1400" b="1" dirty="0">
              <a:solidFill>
                <a:schemeClr val="bg1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698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AAC3-6954-967B-09C1-CB9B1C78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8A9803-01ED-61D6-AD5A-B8E23A228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İstatistiksel Analiz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262D5E-E57C-9297-88F2-B3C17AEC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Veri setlerinin karşılaştırılması için:</a:t>
            </a:r>
          </a:p>
          <a:p>
            <a:pPr lvl="1">
              <a:lnSpc>
                <a:spcPct val="100000"/>
              </a:lnSpc>
            </a:pPr>
            <a:r>
              <a:rPr lang="tr-TR" dirty="0" err="1">
                <a:latin typeface="Franklin Gothic Book" panose="020B0503020102020204" pitchFamily="34" charset="0"/>
              </a:rPr>
              <a:t>Shapiro-Wilk</a:t>
            </a:r>
            <a:r>
              <a:rPr lang="tr-TR" dirty="0">
                <a:latin typeface="Franklin Gothic Book" panose="020B0503020102020204" pitchFamily="34" charset="0"/>
              </a:rPr>
              <a:t> Normallik Testi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Varyans homojenliği varsayımı kontrolü için F Testi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Bağımsız iki örneklem T-testi</a:t>
            </a:r>
          </a:p>
          <a:p>
            <a:pPr lvl="1">
              <a:lnSpc>
                <a:spcPct val="100000"/>
              </a:lnSpc>
            </a:pPr>
            <a:r>
              <a:rPr lang="tr-TR" dirty="0" err="1">
                <a:latin typeface="Franklin Gothic Book" panose="020B0503020102020204" pitchFamily="34" charset="0"/>
              </a:rPr>
              <a:t>Pearson</a:t>
            </a:r>
            <a:r>
              <a:rPr lang="tr-TR" dirty="0">
                <a:latin typeface="Franklin Gothic Book" panose="020B0503020102020204" pitchFamily="34" charset="0"/>
              </a:rPr>
              <a:t> korelasyon analizi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yapılmıştır.</a:t>
            </a:r>
          </a:p>
        </p:txBody>
      </p:sp>
    </p:spTree>
    <p:extLst>
      <p:ext uri="{BB962C8B-B14F-4D97-AF65-F5344CB8AC3E}">
        <p14:creationId xmlns:p14="http://schemas.microsoft.com/office/powerpoint/2010/main" val="3741136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40DB-853F-1753-3C73-DE78E2E6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8C8B41-311F-38C5-6254-DC913FFE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İstatistiksel Analiz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8A2CC98-6E46-0476-5B17-867117F6E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516" y="3326279"/>
            <a:ext cx="4612027" cy="231304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95ADC04-FD14-109E-51F1-F25C8AF1D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970" y="29728"/>
            <a:ext cx="6271260" cy="2470348"/>
          </a:xfrm>
          <a:prstGeom prst="rect">
            <a:avLst/>
          </a:prstGeom>
        </p:spPr>
      </p:pic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A0DF725E-8980-41B7-C63D-DDD68FAC33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895330"/>
              </p:ext>
            </p:extLst>
          </p:nvPr>
        </p:nvGraphicFramePr>
        <p:xfrm>
          <a:off x="499355" y="2500075"/>
          <a:ext cx="6352295" cy="22751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6033">
                  <a:extLst>
                    <a:ext uri="{9D8B030D-6E8A-4147-A177-3AD203B41FA5}">
                      <a16:colId xmlns:a16="http://schemas.microsoft.com/office/drawing/2014/main" val="2202044930"/>
                    </a:ext>
                  </a:extLst>
                </a:gridCol>
                <a:gridCol w="846792">
                  <a:extLst>
                    <a:ext uri="{9D8B030D-6E8A-4147-A177-3AD203B41FA5}">
                      <a16:colId xmlns:a16="http://schemas.microsoft.com/office/drawing/2014/main" val="3984968433"/>
                    </a:ext>
                  </a:extLst>
                </a:gridCol>
                <a:gridCol w="820420">
                  <a:extLst>
                    <a:ext uri="{9D8B030D-6E8A-4147-A177-3AD203B41FA5}">
                      <a16:colId xmlns:a16="http://schemas.microsoft.com/office/drawing/2014/main" val="210397639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95731836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39448000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53150422"/>
                    </a:ext>
                  </a:extLst>
                </a:gridCol>
              </a:tblGrid>
              <a:tr h="309695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Shapiro-Wilk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 Normallik Testi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Varyans F Testi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Bağımsız İki Örneklem T Testi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Pearson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 Korelasyon Analizi</a:t>
                      </a:r>
                      <a:endParaRPr lang="en-US" sz="1400" b="0" baseline="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650796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Ölçülen Değer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KC~KK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KC~KK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KC~KK</a:t>
                      </a:r>
                      <a:r>
                        <a:rPr lang="tr-TR" sz="1400" baseline="30000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sz="1400" baseline="30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437539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PM</a:t>
                      </a:r>
                      <a:r>
                        <a:rPr lang="tr-TR" sz="1400" b="1" baseline="-250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b="1" baseline="-25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0,7626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0,6235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0,8695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0,8176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0,9987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6644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CO</a:t>
                      </a:r>
                      <a:r>
                        <a:rPr lang="tr-TR" sz="1400" b="1" baseline="-250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baseline="-250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0,5015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0,6722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0,8862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0,9559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0,9969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68886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CO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0,8165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0,4522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0,5325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0,9525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0,8693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003984"/>
                  </a:ext>
                </a:extLst>
              </a:tr>
              <a:tr h="309695">
                <a:tc>
                  <a:txBody>
                    <a:bodyPr/>
                    <a:lstStyle/>
                    <a:p>
                      <a:pPr algn="ctr"/>
                      <a:r>
                        <a:rPr lang="tr-TR" sz="1400" b="1" dirty="0" err="1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tUOB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0,7586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0,5045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0,9156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0,9983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Franklin Gothic Book" panose="020B0503020102020204" pitchFamily="34" charset="0"/>
                          <a:cs typeface="Arial" panose="020B0604020202020204" pitchFamily="34" charset="0"/>
                        </a:rPr>
                        <a:t>0,9945</a:t>
                      </a:r>
                      <a:endParaRPr lang="en-US" sz="1400" dirty="0">
                        <a:solidFill>
                          <a:schemeClr val="bg1"/>
                        </a:solidFill>
                        <a:latin typeface="Franklin Gothic Book" panose="020B05030201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378269"/>
                  </a:ext>
                </a:extLst>
              </a:tr>
            </a:tbl>
          </a:graphicData>
        </a:graphic>
      </p:graphicFrame>
      <p:sp>
        <p:nvSpPr>
          <p:cNvPr id="6" name="Metin kutusu 5">
            <a:extLst>
              <a:ext uri="{FF2B5EF4-FFF2-40B4-BE49-F238E27FC236}">
                <a16:creationId xmlns:a16="http://schemas.microsoft.com/office/drawing/2014/main" id="{55E51D5F-2236-35E8-4DBE-B4047C7EE1FB}"/>
              </a:ext>
            </a:extLst>
          </p:cNvPr>
          <p:cNvSpPr txBox="1"/>
          <p:nvPr/>
        </p:nvSpPr>
        <p:spPr>
          <a:xfrm>
            <a:off x="499355" y="4775175"/>
            <a:ext cx="6352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aseline="300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</a:t>
            </a:r>
            <a:r>
              <a:rPr lang="tr-TR" sz="14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KC</a:t>
            </a:r>
            <a:r>
              <a:rPr lang="tr-TR" sz="14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: Kontrol Cihazı veri seti </a:t>
            </a:r>
            <a:r>
              <a:rPr lang="tr-TR" sz="1400" baseline="300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b</a:t>
            </a:r>
            <a:r>
              <a:rPr lang="tr-TR" sz="14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KK</a:t>
            </a:r>
            <a:r>
              <a:rPr lang="tr-TR" sz="14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: Kişisel Kit veri seti </a:t>
            </a:r>
            <a:r>
              <a:rPr lang="tr-TR" sz="1400" baseline="300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c</a:t>
            </a:r>
            <a:r>
              <a:rPr lang="tr-TR" sz="1400" dirty="0" err="1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KC~KK</a:t>
            </a:r>
            <a:r>
              <a:rPr lang="tr-TR" sz="14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: Kontrol Cihazı ve Kişisel Kit veri setlerinin karşılaştırması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AB8E56AB-0E20-8832-7108-4EFA2B896836}"/>
              </a:ext>
            </a:extLst>
          </p:cNvPr>
          <p:cNvSpPr txBox="1"/>
          <p:nvPr/>
        </p:nvSpPr>
        <p:spPr>
          <a:xfrm>
            <a:off x="499355" y="2192298"/>
            <a:ext cx="5389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tr-TR" sz="1400" b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Tablo 3: </a:t>
            </a:r>
            <a:r>
              <a:rPr lang="tr-TR" sz="1400" i="1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Karşılaştırmalı ölçümlerin istatistiksel analiz sonuçları</a:t>
            </a:r>
            <a:endParaRPr lang="tr-TR" sz="1400" b="1" dirty="0">
              <a:solidFill>
                <a:schemeClr val="bg1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235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E4C5D-0C77-D433-2200-F2E4CECF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A6C01B-C34A-1607-49A8-ADDA8419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BULGULAR: </a:t>
            </a:r>
            <a:r>
              <a:rPr lang="tr-TR" b="1" dirty="0"/>
              <a:t>Maliyet Tablosu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B34602C-2672-B189-E455-E85DD733D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8592EAF4-8BE4-EFC6-7F60-3B7EEC379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57" y="1673543"/>
            <a:ext cx="4100257" cy="450342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7C5D035-2D8B-A433-2448-9DED809F7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070" y="2288961"/>
            <a:ext cx="4778373" cy="327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78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1362-534F-923E-74DD-2F3A49E0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35F470-B87E-B7C8-1F96-3B6C7191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SONUÇ ve TARTIŞMA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F481C9-699F-390F-91EE-68670F15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lvl="0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Tüm veri setlerinin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normal dağılım gösterdiği </a:t>
            </a:r>
            <a:r>
              <a:rPr lang="tr-TR" dirty="0">
                <a:latin typeface="Franklin Gothic Book" panose="020B0503020102020204" pitchFamily="34" charset="0"/>
              </a:rPr>
              <a:t>görülmüştür.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(kriter: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p &gt; 0,05</a:t>
            </a:r>
            <a:r>
              <a:rPr lang="tr-TR" dirty="0">
                <a:latin typeface="Franklin Gothic Book" panose="020B0503020102020204" pitchFamily="34" charset="0"/>
              </a:rPr>
              <a:t>; </a:t>
            </a:r>
            <a:r>
              <a:rPr lang="tr-TR" dirty="0" err="1">
                <a:latin typeface="Franklin Gothic Book" panose="020B0503020102020204" pitchFamily="34" charset="0"/>
              </a:rPr>
              <a:t>min</a:t>
            </a:r>
            <a:r>
              <a:rPr lang="tr-TR" dirty="0">
                <a:latin typeface="Franklin Gothic Book" panose="020B0503020102020204" pitchFamily="34" charset="0"/>
              </a:rPr>
              <a:t> değer: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0,4522</a:t>
            </a:r>
            <a:r>
              <a:rPr lang="tr-TR" dirty="0">
                <a:latin typeface="Franklin Gothic Book" panose="020B0503020102020204" pitchFamily="34" charset="0"/>
              </a:rPr>
              <a:t>) </a:t>
            </a:r>
          </a:p>
          <a:p>
            <a:pPr lvl="0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Veri setleri arasında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varyans homojenliği </a:t>
            </a:r>
            <a:r>
              <a:rPr lang="tr-TR" dirty="0">
                <a:latin typeface="Franklin Gothic Book" panose="020B0503020102020204" pitchFamily="34" charset="0"/>
              </a:rPr>
              <a:t>görülmüştür. 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(kriter: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p &gt; 0,05</a:t>
            </a:r>
            <a:r>
              <a:rPr lang="tr-TR" dirty="0">
                <a:latin typeface="Franklin Gothic Book" panose="020B0503020102020204" pitchFamily="34" charset="0"/>
              </a:rPr>
              <a:t>, analizlerin en düşük değeri: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0,5325</a:t>
            </a:r>
            <a:r>
              <a:rPr lang="tr-TR" dirty="0">
                <a:latin typeface="Franklin Gothic Book" panose="020B0503020102020204" pitchFamily="34" charset="0"/>
              </a:rPr>
              <a:t>) </a:t>
            </a:r>
          </a:p>
          <a:p>
            <a:pPr lvl="0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T-testi sonucunda Kullanıcı </a:t>
            </a:r>
            <a:r>
              <a:rPr lang="tr-TR" dirty="0" err="1">
                <a:latin typeface="Franklin Gothic Book" panose="020B0503020102020204" pitchFamily="34" charset="0"/>
              </a:rPr>
              <a:t>Kit’i</a:t>
            </a:r>
            <a:r>
              <a:rPr lang="tr-TR" dirty="0">
                <a:latin typeface="Franklin Gothic Book" panose="020B0503020102020204" pitchFamily="34" charset="0"/>
              </a:rPr>
              <a:t> ile kontrol cihazlarının ölçümleri arasında istatiksel olarak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anlamlı bir fark olmadığı </a:t>
            </a:r>
            <a:r>
              <a:rPr lang="tr-TR" dirty="0">
                <a:latin typeface="Franklin Gothic Book" panose="020B0503020102020204" pitchFamily="34" charset="0"/>
              </a:rPr>
              <a:t>görülmüştür.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(kriter: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p  &gt; 0,05</a:t>
            </a:r>
            <a:r>
              <a:rPr lang="tr-TR" dirty="0">
                <a:latin typeface="Franklin Gothic Book" panose="020B0503020102020204" pitchFamily="34" charset="0"/>
              </a:rPr>
              <a:t>; analizlerin en düşük değeri: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0,8179</a:t>
            </a:r>
            <a:r>
              <a:rPr lang="tr-TR" dirty="0">
                <a:latin typeface="Franklin Gothic Book" panose="020B05030201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9176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28785-F2EC-3697-86EA-A93CA34B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F9ED29F-277A-4D2D-6880-134AE366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SONUÇ ve TARTIŞMA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56714E-E100-9880-0DA3-E95A8F822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lvl="0">
              <a:lnSpc>
                <a:spcPct val="100000"/>
              </a:lnSpc>
            </a:pPr>
            <a:r>
              <a:rPr lang="tr-TR" dirty="0" err="1">
                <a:latin typeface="Franklin Gothic Book" panose="020B0503020102020204" pitchFamily="34" charset="0"/>
              </a:rPr>
              <a:t>Pearson</a:t>
            </a:r>
            <a:r>
              <a:rPr lang="tr-TR" dirty="0">
                <a:latin typeface="Franklin Gothic Book" panose="020B0503020102020204" pitchFamily="34" charset="0"/>
              </a:rPr>
              <a:t> korelasyon analizi sonucunda cihazların ölçümlerinin istatiksel olarak </a:t>
            </a:r>
            <a:r>
              <a:rPr lang="tr-TR" dirty="0" err="1">
                <a:solidFill>
                  <a:srgbClr val="A5FFAE"/>
                </a:solidFill>
                <a:latin typeface="Franklin Gothic Book" panose="020B0503020102020204" pitchFamily="34" charset="0"/>
              </a:rPr>
              <a:t>korele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 olduğu </a:t>
            </a:r>
            <a:r>
              <a:rPr lang="tr-TR" dirty="0">
                <a:latin typeface="Franklin Gothic Book" panose="020B0503020102020204" pitchFamily="34" charset="0"/>
              </a:rPr>
              <a:t>görülmüştür.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(kriter: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0,5 &lt; p &lt; 1</a:t>
            </a:r>
            <a:r>
              <a:rPr lang="tr-TR" dirty="0">
                <a:latin typeface="Franklin Gothic Book" panose="020B0503020102020204" pitchFamily="34" charset="0"/>
              </a:rPr>
              <a:t>; bulunan en düşük değer: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0,8693</a:t>
            </a:r>
            <a:r>
              <a:rPr lang="tr-TR" dirty="0">
                <a:latin typeface="Franklin Gothic Book" panose="020B05030201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Sıcaklık ve nem ölçümleri için Kişisel </a:t>
            </a:r>
            <a:r>
              <a:rPr lang="tr-TR" dirty="0" err="1">
                <a:latin typeface="Franklin Gothic Book" panose="020B0503020102020204" pitchFamily="34" charset="0"/>
              </a:rPr>
              <a:t>Kit’te</a:t>
            </a:r>
            <a:r>
              <a:rPr lang="tr-TR" dirty="0">
                <a:latin typeface="Franklin Gothic Book" panose="020B0503020102020204" pitchFamily="34" charset="0"/>
              </a:rPr>
              <a:t> okunan değerlerin kontrol cihazları ile %0,5-%1 aralığında fark olduğu görülmüştür.</a:t>
            </a:r>
          </a:p>
        </p:txBody>
      </p:sp>
    </p:spTree>
    <p:extLst>
      <p:ext uri="{BB962C8B-B14F-4D97-AF65-F5344CB8AC3E}">
        <p14:creationId xmlns:p14="http://schemas.microsoft.com/office/powerpoint/2010/main" val="2983646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BAFA-B56C-6142-1793-8749EB05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6ED713-9BC4-99F0-C09B-85722C29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SONUÇ ve TARTIŞMA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D95C15-144E-0AE6-970A-77FD3EB23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357188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Yapılan testler sonucunda kitlerin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kabul edilebilir hassasiyet </a:t>
            </a:r>
            <a:r>
              <a:rPr lang="tr-TR" dirty="0">
                <a:latin typeface="Franklin Gothic Book" panose="020B0503020102020204" pitchFamily="34" charset="0"/>
              </a:rPr>
              <a:t>ve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doğrulukta</a:t>
            </a:r>
            <a:r>
              <a:rPr lang="tr-TR" dirty="0">
                <a:latin typeface="Franklin Gothic Book" panose="020B0503020102020204" pitchFamily="34" charset="0"/>
              </a:rPr>
              <a:t> olduğu görülmüştür.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sz="2800" dirty="0">
                <a:latin typeface="Franklin Gothic Book" panose="020B0503020102020204" pitchFamily="34" charset="0"/>
              </a:rPr>
              <a:t>Sonuç olarak;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hava kirliliğinden etkilenen kişilerin kullanabileceği,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doktorların hastalarına veri toplamak için verebilecekleri,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taşınabilir</a:t>
            </a:r>
            <a:r>
              <a:rPr lang="tr-TR" dirty="0">
                <a:latin typeface="Franklin Gothic Book" panose="020B0503020102020204" pitchFamily="34" charset="0"/>
              </a:rPr>
              <a:t>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güvenilir hassasiyette</a:t>
            </a:r>
            <a:r>
              <a:rPr lang="tr-TR" dirty="0">
                <a:latin typeface="Franklin Gothic Book" panose="020B0503020102020204" pitchFamily="34" charset="0"/>
              </a:rPr>
              <a:t>,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açık kod ve kaynak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iki tip hava kalitesi ölçüm kiti yapılmış ve proje amacına ulaşılmıştır. 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tr-TR" dirty="0" err="1">
                <a:latin typeface="Franklin Gothic Book" panose="020B0503020102020204" pitchFamily="34" charset="0"/>
              </a:rPr>
              <a:t>PrMd</a:t>
            </a:r>
            <a:r>
              <a:rPr lang="tr-TR" dirty="0">
                <a:latin typeface="Franklin Gothic Book" panose="020B0503020102020204" pitchFamily="34" charset="0"/>
              </a:rPr>
              <a:t> ile de daha fonksiyonel kullanım sunulmuştur.</a:t>
            </a:r>
          </a:p>
        </p:txBody>
      </p:sp>
    </p:spTree>
    <p:extLst>
      <p:ext uri="{BB962C8B-B14F-4D97-AF65-F5344CB8AC3E}">
        <p14:creationId xmlns:p14="http://schemas.microsoft.com/office/powerpoint/2010/main" val="3290409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2FDEE-5FA4-A0BD-1BAC-ECEBA454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FBBB89-5D60-0C4C-E42D-0436250AB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PROJENİN FARKI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F608D2-9C8E-3786-7834-2460E5D7D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tr-TR" dirty="0">
                <a:latin typeface="Franklin Gothic Book" panose="020B0503020102020204" pitchFamily="34" charset="0"/>
              </a:rPr>
              <a:t>Var olan ürünlerde aşağıdaki eksikliklerden bir ya da birkaçı bulunmaktadır: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Taşınabilir olmaması,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Sadece belirli gazları ölçmesi,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Alarm değer belirleyememesi,</a:t>
            </a:r>
          </a:p>
          <a:p>
            <a:pPr lvl="1">
              <a:lnSpc>
                <a:spcPct val="100000"/>
              </a:lnSpc>
            </a:pPr>
            <a:r>
              <a:rPr lang="tr-TR" dirty="0" err="1">
                <a:latin typeface="Franklin Gothic Book" panose="020B0503020102020204" pitchFamily="34" charset="0"/>
              </a:rPr>
              <a:t>PrMd’nin</a:t>
            </a:r>
            <a:r>
              <a:rPr lang="tr-TR" dirty="0">
                <a:latin typeface="Franklin Gothic Book" panose="020B0503020102020204" pitchFamily="34" charset="0"/>
              </a:rPr>
              <a:t> muadilinin eksikliği,</a:t>
            </a:r>
          </a:p>
          <a:p>
            <a:pPr lvl="1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Verilerin kaydının olmaması.</a:t>
            </a:r>
          </a:p>
        </p:txBody>
      </p:sp>
    </p:spTree>
    <p:extLst>
      <p:ext uri="{BB962C8B-B14F-4D97-AF65-F5344CB8AC3E}">
        <p14:creationId xmlns:p14="http://schemas.microsoft.com/office/powerpoint/2010/main" val="1171938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DEEDA-8A28-447D-2543-1E77E223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5748EA1-0970-50E2-ED1F-C68867D0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PROJENİN FARKI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D003F468-AAA5-7A92-AC81-A9A1A3A1208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599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tr-TR" dirty="0">
                <a:latin typeface="Franklin Gothic Book" panose="020B0503020102020204" pitchFamily="34" charset="0"/>
              </a:rPr>
              <a:t>Projede kapsamında yapılan kitler;</a:t>
            </a:r>
          </a:p>
          <a:p>
            <a:pPr lvl="1"/>
            <a:r>
              <a:rPr lang="tr-TR" dirty="0">
                <a:latin typeface="Franklin Gothic Book" panose="020B0503020102020204" pitchFamily="34" charset="0"/>
              </a:rPr>
              <a:t>taşınabilir olmaları,</a:t>
            </a:r>
          </a:p>
          <a:p>
            <a:pPr lvl="1"/>
            <a:r>
              <a:rPr lang="tr-TR" dirty="0">
                <a:latin typeface="Franklin Gothic Book" panose="020B0503020102020204" pitchFamily="34" charset="0"/>
              </a:rPr>
              <a:t>Literatürde kritik olarak gösterilen kirleticilerin (WHO, 2019)  tamamını ölçmeleri,</a:t>
            </a:r>
          </a:p>
          <a:p>
            <a:pPr lvl="1"/>
            <a:r>
              <a:rPr lang="tr-TR" dirty="0" err="1">
                <a:latin typeface="Franklin Gothic Book" panose="020B0503020102020204" pitchFamily="34" charset="0"/>
              </a:rPr>
              <a:t>PrMd</a:t>
            </a:r>
            <a:r>
              <a:rPr lang="tr-TR" dirty="0">
                <a:latin typeface="Franklin Gothic Book" panose="020B0503020102020204" pitchFamily="34" charset="0"/>
              </a:rPr>
              <a:t> ile beraber çalışması,</a:t>
            </a:r>
          </a:p>
          <a:p>
            <a:pPr lvl="1"/>
            <a:r>
              <a:rPr lang="tr-TR" dirty="0">
                <a:latin typeface="Franklin Gothic Book" panose="020B0503020102020204" pitchFamily="34" charset="0"/>
              </a:rPr>
              <a:t>Ölçüm verilerini hem bir veri tabanına yüklenmesi hem de mikro SD karta kaydetmeleri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tr-TR" dirty="0">
                <a:latin typeface="Franklin Gothic Book" panose="020B0503020102020204" pitchFamily="34" charset="0"/>
              </a:rPr>
              <a:t>ile ön plana çıkmaktadırlar. </a:t>
            </a:r>
          </a:p>
        </p:txBody>
      </p:sp>
    </p:spTree>
    <p:extLst>
      <p:ext uri="{BB962C8B-B14F-4D97-AF65-F5344CB8AC3E}">
        <p14:creationId xmlns:p14="http://schemas.microsoft.com/office/powerpoint/2010/main" val="2257434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08A6-06C6-19B4-A970-6A5FB592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14357D-5287-1175-985C-65591F55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ÖNERİLER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C7AD806-3A4D-E770-312A-9E5B67CC6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fontAlgn="base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Bazı gazların temini zor olduğundan dolayı bu gazlarla ilgili testler yapılamamıştır. Bu gazların testleri için çalışma yapılabilir. </a:t>
            </a:r>
          </a:p>
          <a:p>
            <a:pPr fontAlgn="base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Medikal Kit, hastalara verilip verilerin doktorlara ne kadar yardımcı olduğu araştırılabilir.</a:t>
            </a:r>
          </a:p>
        </p:txBody>
      </p:sp>
    </p:spTree>
    <p:extLst>
      <p:ext uri="{BB962C8B-B14F-4D97-AF65-F5344CB8AC3E}">
        <p14:creationId xmlns:p14="http://schemas.microsoft.com/office/powerpoint/2010/main" val="9174380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4104-E2F8-4DDE-AF44-479F5D5F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D2AA80-065A-B654-B136-8A5247D7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" y="155892"/>
            <a:ext cx="11984476" cy="854075"/>
          </a:xfrm>
        </p:spPr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EK KULLANIM ALANLARI</a:t>
            </a:r>
            <a:endParaRPr lang="en-US" sz="4800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F971C6-6273-F12B-A2B4-09C855730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fontAlgn="base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Kişisel Kit ve </a:t>
            </a:r>
            <a:r>
              <a:rPr lang="tr-TR" dirty="0" err="1">
                <a:latin typeface="Franklin Gothic Book" panose="020B0503020102020204" pitchFamily="34" charset="0"/>
              </a:rPr>
              <a:t>PrMd</a:t>
            </a:r>
            <a:r>
              <a:rPr lang="tr-TR" dirty="0">
                <a:latin typeface="Franklin Gothic Book" panose="020B0503020102020204" pitchFamily="34" charset="0"/>
              </a:rPr>
              <a:t>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şofben ve soba gazı zehirlenmeleri</a:t>
            </a:r>
            <a:r>
              <a:rPr lang="tr-TR" dirty="0">
                <a:latin typeface="Franklin Gothic Book" panose="020B0503020102020204" pitchFamily="34" charset="0"/>
              </a:rPr>
              <a:t>ne karşı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uyarı sistemi </a:t>
            </a:r>
            <a:r>
              <a:rPr lang="tr-TR" dirty="0">
                <a:latin typeface="Franklin Gothic Book" panose="020B0503020102020204" pitchFamily="34" charset="0"/>
              </a:rPr>
              <a:t>olarak kullanılabilir.</a:t>
            </a:r>
          </a:p>
          <a:p>
            <a:pPr fontAlgn="base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Kişisel Kit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bebek ya da çocuğun odasına </a:t>
            </a:r>
            <a:r>
              <a:rPr lang="tr-TR" dirty="0">
                <a:latin typeface="Franklin Gothic Book" panose="020B0503020102020204" pitchFamily="34" charset="0"/>
              </a:rPr>
              <a:t>bırakılıp </a:t>
            </a:r>
            <a:r>
              <a:rPr lang="tr-TR" dirty="0" err="1">
                <a:latin typeface="Franklin Gothic Book" panose="020B0503020102020204" pitchFamily="34" charset="0"/>
              </a:rPr>
              <a:t>PrMd</a:t>
            </a:r>
            <a:r>
              <a:rPr lang="tr-TR" dirty="0">
                <a:latin typeface="Franklin Gothic Book" panose="020B0503020102020204" pitchFamily="34" charset="0"/>
              </a:rPr>
              <a:t> ebeveynlerin yanında bir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uyarı sistemi </a:t>
            </a:r>
            <a:r>
              <a:rPr lang="tr-TR" dirty="0">
                <a:latin typeface="Franklin Gothic Book" panose="020B0503020102020204" pitchFamily="34" charset="0"/>
              </a:rPr>
              <a:t>olarak kullanılabilir.</a:t>
            </a:r>
          </a:p>
          <a:p>
            <a:pPr fontAlgn="base">
              <a:lnSpc>
                <a:spcPct val="100000"/>
              </a:lnSpc>
            </a:pPr>
            <a:r>
              <a:rPr lang="tr-TR" dirty="0">
                <a:latin typeface="Franklin Gothic Book" panose="020B0503020102020204" pitchFamily="34" charset="0"/>
              </a:rPr>
              <a:t>Veri tabanına kaydedilen veriler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devlet veya kurumlar tarafından </a:t>
            </a:r>
            <a:r>
              <a:rPr lang="tr-TR" dirty="0">
                <a:latin typeface="Franklin Gothic Book" panose="020B0503020102020204" pitchFamily="34" charset="0"/>
              </a:rPr>
              <a:t>kullanılarak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gerekli önlemleri almak </a:t>
            </a:r>
            <a:r>
              <a:rPr lang="tr-TR" dirty="0">
                <a:latin typeface="Franklin Gothic Book" panose="020B0503020102020204" pitchFamily="34" charset="0"/>
              </a:rPr>
              <a:t>ya da </a:t>
            </a:r>
            <a:r>
              <a:rPr lang="tr-TR" dirty="0">
                <a:solidFill>
                  <a:srgbClr val="A5FFAE"/>
                </a:solidFill>
                <a:latin typeface="Franklin Gothic Book" panose="020B0503020102020204" pitchFamily="34" charset="0"/>
              </a:rPr>
              <a:t>kamuoyu oluşturmak </a:t>
            </a:r>
            <a:r>
              <a:rPr lang="tr-TR" dirty="0">
                <a:latin typeface="Franklin Gothic Book" panose="020B0503020102020204" pitchFamily="34" charset="0"/>
              </a:rPr>
              <a:t>için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935291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563B-B1D4-951A-B0F2-9D87D1B4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6F3301-2FC9-98D3-61E1-B075C251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4800" dirty="0">
                <a:latin typeface="TT Supermolot Neue Exp Black" panose="02000505040000020004" pitchFamily="2" charset="-94"/>
              </a:rPr>
              <a:t>KAYNAKÇA</a:t>
            </a:r>
            <a:endParaRPr lang="en-US" dirty="0">
              <a:latin typeface="TT Supermolot Neue Exp Black" panose="02000505040000020004" pitchFamily="2" charset="-94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FA0C9D-9D86-AA4B-016F-269595224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23900" indent="-723900" algn="just">
              <a:buNone/>
            </a:pPr>
            <a:r>
              <a:rPr lang="tr-TR" sz="1800" dirty="0" err="1">
                <a:latin typeface="Franklin Gothic Book" panose="020B0503020102020204" pitchFamily="34" charset="0"/>
              </a:rPr>
              <a:t>Lung</a:t>
            </a:r>
            <a:r>
              <a:rPr lang="tr-TR" sz="1800" dirty="0">
                <a:latin typeface="Franklin Gothic Book" panose="020B0503020102020204" pitchFamily="34" charset="0"/>
              </a:rPr>
              <a:t> </a:t>
            </a:r>
            <a:r>
              <a:rPr lang="tr-TR" sz="1800" dirty="0" err="1">
                <a:latin typeface="Franklin Gothic Book" panose="020B0503020102020204" pitchFamily="34" charset="0"/>
              </a:rPr>
              <a:t>Care</a:t>
            </a:r>
            <a:r>
              <a:rPr lang="tr-TR" sz="1800" dirty="0">
                <a:latin typeface="Franklin Gothic Book" panose="020B0503020102020204" pitchFamily="34" charset="0"/>
              </a:rPr>
              <a:t> Foundation. (</a:t>
            </a:r>
            <a:r>
              <a:rPr lang="tr-TR" sz="1800" dirty="0" err="1">
                <a:latin typeface="Franklin Gothic Book" panose="020B0503020102020204" pitchFamily="34" charset="0"/>
              </a:rPr>
              <a:t>t.y</a:t>
            </a:r>
            <a:r>
              <a:rPr lang="tr-TR" sz="1800" dirty="0">
                <a:latin typeface="Franklin Gothic Book" panose="020B0503020102020204" pitchFamily="34" charset="0"/>
              </a:rPr>
              <a:t>.). </a:t>
            </a:r>
            <a:r>
              <a:rPr lang="tr-TR" sz="1800" i="1" dirty="0" err="1">
                <a:latin typeface="Franklin Gothic Book" panose="020B0503020102020204" pitchFamily="34" charset="0"/>
              </a:rPr>
              <a:t>Lung</a:t>
            </a:r>
            <a:r>
              <a:rPr lang="tr-TR" sz="1800" i="1" dirty="0">
                <a:latin typeface="Franklin Gothic Book" panose="020B0503020102020204" pitchFamily="34" charset="0"/>
              </a:rPr>
              <a:t> Basics – </a:t>
            </a:r>
            <a:r>
              <a:rPr lang="tr-TR" sz="1800" i="1" dirty="0" err="1">
                <a:latin typeface="Franklin Gothic Book" panose="020B0503020102020204" pitchFamily="34" charset="0"/>
              </a:rPr>
              <a:t>Lung</a:t>
            </a:r>
            <a:r>
              <a:rPr lang="tr-TR" sz="1800" i="1" dirty="0">
                <a:latin typeface="Franklin Gothic Book" panose="020B0503020102020204" pitchFamily="34" charset="0"/>
              </a:rPr>
              <a:t> </a:t>
            </a:r>
            <a:r>
              <a:rPr lang="tr-TR" sz="1800" i="1" dirty="0" err="1">
                <a:latin typeface="Franklin Gothic Book" panose="020B0503020102020204" pitchFamily="34" charset="0"/>
              </a:rPr>
              <a:t>Care</a:t>
            </a:r>
            <a:r>
              <a:rPr lang="tr-TR" sz="1800" i="1" dirty="0">
                <a:latin typeface="Franklin Gothic Book" panose="020B0503020102020204" pitchFamily="34" charset="0"/>
              </a:rPr>
              <a:t> Foundation. </a:t>
            </a:r>
            <a:r>
              <a:rPr lang="tr-TR" sz="1800" dirty="0" err="1">
                <a:latin typeface="Franklin Gothic Book" panose="020B0503020102020204" pitchFamily="34" charset="0"/>
              </a:rPr>
              <a:t>Lung</a:t>
            </a:r>
            <a:r>
              <a:rPr lang="tr-TR" sz="1800" dirty="0">
                <a:latin typeface="Franklin Gothic Book" panose="020B0503020102020204" pitchFamily="34" charset="0"/>
              </a:rPr>
              <a:t> </a:t>
            </a:r>
            <a:r>
              <a:rPr lang="tr-TR" sz="1800" dirty="0" err="1">
                <a:latin typeface="Franklin Gothic Book" panose="020B0503020102020204" pitchFamily="34" charset="0"/>
              </a:rPr>
              <a:t>Care</a:t>
            </a:r>
            <a:r>
              <a:rPr lang="tr-TR" sz="1800" dirty="0">
                <a:latin typeface="Franklin Gothic Book" panose="020B0503020102020204" pitchFamily="34" charset="0"/>
              </a:rPr>
              <a:t> Foundation – </a:t>
            </a:r>
            <a:r>
              <a:rPr lang="tr-TR" sz="1800" dirty="0" err="1">
                <a:latin typeface="Franklin Gothic Book" panose="020B0503020102020204" pitchFamily="34" charset="0"/>
              </a:rPr>
              <a:t>Lung</a:t>
            </a:r>
            <a:r>
              <a:rPr lang="tr-TR" sz="1800" dirty="0">
                <a:latin typeface="Franklin Gothic Book" panose="020B0503020102020204" pitchFamily="34" charset="0"/>
              </a:rPr>
              <a:t> </a:t>
            </a:r>
            <a:r>
              <a:rPr lang="tr-TR" sz="1800" dirty="0" err="1">
                <a:latin typeface="Franklin Gothic Book" panose="020B0503020102020204" pitchFamily="34" charset="0"/>
              </a:rPr>
              <a:t>Care</a:t>
            </a:r>
            <a:r>
              <a:rPr lang="tr-TR" sz="1800" dirty="0">
                <a:latin typeface="Franklin Gothic Book" panose="020B0503020102020204" pitchFamily="34" charset="0"/>
              </a:rPr>
              <a:t> Foundation</a:t>
            </a:r>
            <a:r>
              <a:rPr lang="tr-TR" sz="1800" i="1" dirty="0">
                <a:latin typeface="Franklin Gothic Book" panose="020B0503020102020204" pitchFamily="34" charset="0"/>
              </a:rPr>
              <a:t>. </a:t>
            </a:r>
            <a:r>
              <a:rPr lang="en-US" sz="1800" dirty="0">
                <a:latin typeface="Franklin Gothic Book" panose="020B0503020102020204" pitchFamily="34" charset="0"/>
                <a:hlinkClick r:id="rId2"/>
              </a:rPr>
              <a:t>https://lcf.org.in/lung-basics/</a:t>
            </a:r>
            <a:endParaRPr lang="tr-TR" sz="1800" dirty="0">
              <a:latin typeface="Franklin Gothic Book" panose="020B0503020102020204" pitchFamily="34" charset="0"/>
            </a:endParaRPr>
          </a:p>
          <a:p>
            <a:pPr marL="723900" indent="-723900" algn="just">
              <a:buNone/>
            </a:pPr>
            <a:r>
              <a:rPr lang="tr-TR" sz="1800" dirty="0" err="1">
                <a:latin typeface="Franklin Gothic Book" panose="020B0503020102020204" pitchFamily="34" charset="0"/>
              </a:rPr>
              <a:t>Klepeis</a:t>
            </a:r>
            <a:r>
              <a:rPr lang="tr-TR" sz="1800" dirty="0">
                <a:latin typeface="Franklin Gothic Book" panose="020B0503020102020204" pitchFamily="34" charset="0"/>
              </a:rPr>
              <a:t>, N. E., Nelson, W. C., </a:t>
            </a:r>
            <a:r>
              <a:rPr lang="tr-TR" sz="1800" dirty="0" err="1">
                <a:latin typeface="Franklin Gothic Book" panose="020B0503020102020204" pitchFamily="34" charset="0"/>
              </a:rPr>
              <a:t>Ott</a:t>
            </a:r>
            <a:r>
              <a:rPr lang="tr-TR" sz="1800" dirty="0">
                <a:latin typeface="Franklin Gothic Book" panose="020B0503020102020204" pitchFamily="34" charset="0"/>
              </a:rPr>
              <a:t>, W. R., Robinson, J. P., </a:t>
            </a:r>
            <a:r>
              <a:rPr lang="tr-TR" sz="1800" dirty="0" err="1">
                <a:latin typeface="Franklin Gothic Book" panose="020B0503020102020204" pitchFamily="34" charset="0"/>
              </a:rPr>
              <a:t>Tsang</a:t>
            </a:r>
            <a:r>
              <a:rPr lang="tr-TR" sz="1800" dirty="0">
                <a:latin typeface="Franklin Gothic Book" panose="020B0503020102020204" pitchFamily="34" charset="0"/>
              </a:rPr>
              <a:t>, A. M., </a:t>
            </a:r>
            <a:r>
              <a:rPr lang="tr-TR" sz="1800" dirty="0" err="1">
                <a:latin typeface="Franklin Gothic Book" panose="020B0503020102020204" pitchFamily="34" charset="0"/>
              </a:rPr>
              <a:t>Switzer</a:t>
            </a:r>
            <a:r>
              <a:rPr lang="tr-TR" sz="1800" dirty="0">
                <a:latin typeface="Franklin Gothic Book" panose="020B0503020102020204" pitchFamily="34" charset="0"/>
              </a:rPr>
              <a:t>, P., </a:t>
            </a:r>
            <a:r>
              <a:rPr lang="tr-TR" sz="1800" dirty="0" err="1">
                <a:latin typeface="Franklin Gothic Book" panose="020B0503020102020204" pitchFamily="34" charset="0"/>
              </a:rPr>
              <a:t>Behar</a:t>
            </a:r>
            <a:r>
              <a:rPr lang="tr-TR" sz="1800" dirty="0">
                <a:latin typeface="Franklin Gothic Book" panose="020B0503020102020204" pitchFamily="34" charset="0"/>
              </a:rPr>
              <a:t>, J. V., </a:t>
            </a:r>
            <a:r>
              <a:rPr lang="tr-TR" sz="1800" dirty="0" err="1">
                <a:latin typeface="Franklin Gothic Book" panose="020B0503020102020204" pitchFamily="34" charset="0"/>
              </a:rPr>
              <a:t>Hern</a:t>
            </a:r>
            <a:r>
              <a:rPr lang="tr-TR" sz="1800" dirty="0">
                <a:latin typeface="Franklin Gothic Book" panose="020B0503020102020204" pitchFamily="34" charset="0"/>
              </a:rPr>
              <a:t>, S. C. Ve </a:t>
            </a:r>
            <a:r>
              <a:rPr lang="tr-TR" sz="1800" dirty="0" err="1">
                <a:latin typeface="Franklin Gothic Book" panose="020B0503020102020204" pitchFamily="34" charset="0"/>
              </a:rPr>
              <a:t>Engelmann</a:t>
            </a:r>
            <a:r>
              <a:rPr lang="tr-TR" sz="1800" dirty="0">
                <a:latin typeface="Franklin Gothic Book" panose="020B0503020102020204" pitchFamily="34" charset="0"/>
              </a:rPr>
              <a:t>, W. H. (2001), </a:t>
            </a:r>
            <a:r>
              <a:rPr lang="en-US" sz="1800" dirty="0">
                <a:latin typeface="Franklin Gothic Book" panose="020B0503020102020204" pitchFamily="34" charset="0"/>
              </a:rPr>
              <a:t>The </a:t>
            </a:r>
            <a:r>
              <a:rPr lang="tr-TR" sz="1800" dirty="0">
                <a:latin typeface="Franklin Gothic Book" panose="020B0503020102020204" pitchFamily="34" charset="0"/>
              </a:rPr>
              <a:t>N</a:t>
            </a:r>
            <a:r>
              <a:rPr lang="en-US" sz="1800" dirty="0" err="1">
                <a:latin typeface="Franklin Gothic Book" panose="020B0503020102020204" pitchFamily="34" charset="0"/>
              </a:rPr>
              <a:t>ational</a:t>
            </a:r>
            <a:r>
              <a:rPr lang="en-US" sz="1800" dirty="0">
                <a:latin typeface="Franklin Gothic Book" panose="020B0503020102020204" pitchFamily="34" charset="0"/>
              </a:rPr>
              <a:t> Human Activity Pattern Survey (NHAPS): </a:t>
            </a:r>
            <a:r>
              <a:rPr lang="tr-TR" sz="1800" dirty="0">
                <a:latin typeface="Franklin Gothic Book" panose="020B0503020102020204" pitchFamily="34" charset="0"/>
              </a:rPr>
              <a:t>a</a:t>
            </a:r>
            <a:r>
              <a:rPr lang="en-US" sz="1800" dirty="0">
                <a:latin typeface="Franklin Gothic Book" panose="020B0503020102020204" pitchFamily="34" charset="0"/>
              </a:rPr>
              <a:t> </a:t>
            </a:r>
            <a:r>
              <a:rPr lang="tr-TR" sz="1800" dirty="0">
                <a:latin typeface="Franklin Gothic Book" panose="020B0503020102020204" pitchFamily="34" charset="0"/>
              </a:rPr>
              <a:t>r</a:t>
            </a:r>
            <a:r>
              <a:rPr lang="en-US" sz="1800" dirty="0" err="1">
                <a:latin typeface="Franklin Gothic Book" panose="020B0503020102020204" pitchFamily="34" charset="0"/>
              </a:rPr>
              <a:t>esource</a:t>
            </a:r>
            <a:r>
              <a:rPr lang="en-US" sz="1800" dirty="0">
                <a:latin typeface="Franklin Gothic Book" panose="020B0503020102020204" pitchFamily="34" charset="0"/>
              </a:rPr>
              <a:t> for </a:t>
            </a:r>
            <a:r>
              <a:rPr lang="tr-TR" sz="1800" dirty="0">
                <a:latin typeface="Franklin Gothic Book" panose="020B0503020102020204" pitchFamily="34" charset="0"/>
              </a:rPr>
              <a:t>a</a:t>
            </a:r>
            <a:r>
              <a:rPr lang="en-US" sz="1800" dirty="0" err="1">
                <a:latin typeface="Franklin Gothic Book" panose="020B0503020102020204" pitchFamily="34" charset="0"/>
              </a:rPr>
              <a:t>ssessing</a:t>
            </a:r>
            <a:r>
              <a:rPr lang="en-US" sz="1800" dirty="0">
                <a:latin typeface="Franklin Gothic Book" panose="020B0503020102020204" pitchFamily="34" charset="0"/>
              </a:rPr>
              <a:t> </a:t>
            </a:r>
            <a:r>
              <a:rPr lang="tr-TR" sz="1800" dirty="0">
                <a:latin typeface="Franklin Gothic Book" panose="020B0503020102020204" pitchFamily="34" charset="0"/>
              </a:rPr>
              <a:t>e</a:t>
            </a:r>
            <a:r>
              <a:rPr lang="en-US" sz="1800" dirty="0" err="1">
                <a:latin typeface="Franklin Gothic Book" panose="020B0503020102020204" pitchFamily="34" charset="0"/>
              </a:rPr>
              <a:t>xposure</a:t>
            </a:r>
            <a:r>
              <a:rPr lang="en-US" sz="1800" dirty="0">
                <a:latin typeface="Franklin Gothic Book" panose="020B0503020102020204" pitchFamily="34" charset="0"/>
              </a:rPr>
              <a:t> to </a:t>
            </a:r>
            <a:r>
              <a:rPr lang="tr-TR" sz="1800" dirty="0">
                <a:latin typeface="Franklin Gothic Book" panose="020B0503020102020204" pitchFamily="34" charset="0"/>
              </a:rPr>
              <a:t>e</a:t>
            </a:r>
            <a:r>
              <a:rPr lang="en-US" sz="1800" dirty="0" err="1">
                <a:latin typeface="Franklin Gothic Book" panose="020B0503020102020204" pitchFamily="34" charset="0"/>
              </a:rPr>
              <a:t>nvironmental</a:t>
            </a:r>
            <a:r>
              <a:rPr lang="en-US" sz="1800" dirty="0">
                <a:latin typeface="Franklin Gothic Book" panose="020B0503020102020204" pitchFamily="34" charset="0"/>
              </a:rPr>
              <a:t> </a:t>
            </a:r>
            <a:r>
              <a:rPr lang="tr-TR" sz="1800" dirty="0">
                <a:latin typeface="Franklin Gothic Book" panose="020B0503020102020204" pitchFamily="34" charset="0"/>
              </a:rPr>
              <a:t>p</a:t>
            </a:r>
            <a:r>
              <a:rPr lang="en-US" sz="1800" dirty="0" err="1">
                <a:latin typeface="Franklin Gothic Book" panose="020B0503020102020204" pitchFamily="34" charset="0"/>
              </a:rPr>
              <a:t>ollutants</a:t>
            </a:r>
            <a:r>
              <a:rPr lang="tr-TR" sz="1800" dirty="0">
                <a:latin typeface="Franklin Gothic Book" panose="020B0503020102020204" pitchFamily="34" charset="0"/>
              </a:rPr>
              <a:t>. </a:t>
            </a:r>
            <a:r>
              <a:rPr lang="en-US" sz="1800" i="1" dirty="0">
                <a:latin typeface="Franklin Gothic Book" panose="020B0503020102020204" pitchFamily="34" charset="0"/>
              </a:rPr>
              <a:t>Journal of Exposure Analysis and Environmental Epidemiology</a:t>
            </a:r>
            <a:r>
              <a:rPr lang="tr-TR" sz="1800" i="1" dirty="0">
                <a:latin typeface="Franklin Gothic Book" panose="020B0503020102020204" pitchFamily="34" charset="0"/>
              </a:rPr>
              <a:t>, 11</a:t>
            </a:r>
            <a:r>
              <a:rPr lang="tr-TR" sz="1800" dirty="0">
                <a:latin typeface="Franklin Gothic Book" panose="020B0503020102020204" pitchFamily="34" charset="0"/>
              </a:rPr>
              <a:t>(3), 231-252. </a:t>
            </a:r>
            <a:r>
              <a:rPr lang="tr-TR" sz="1800" dirty="0">
                <a:latin typeface="Franklin Gothic Book" panose="020B0503020102020204" pitchFamily="34" charset="0"/>
                <a:hlinkClick r:id="rId3"/>
              </a:rPr>
              <a:t>https://doi.org/10.1038/sj.jea.7500165</a:t>
            </a:r>
            <a:r>
              <a:rPr lang="tr-TR" sz="1800" dirty="0">
                <a:latin typeface="Franklin Gothic Book" panose="020B0503020102020204" pitchFamily="34" charset="0"/>
              </a:rPr>
              <a:t> </a:t>
            </a:r>
          </a:p>
          <a:p>
            <a:pPr marL="723900" indent="-723900" algn="just">
              <a:buNone/>
            </a:pPr>
            <a:r>
              <a:rPr lang="tr-TR" sz="1800" dirty="0">
                <a:latin typeface="Franklin Gothic Book" panose="020B0503020102020204" pitchFamily="34" charset="0"/>
              </a:rPr>
              <a:t>Temiz Hava Hakkı Platformu. (2020). </a:t>
            </a:r>
            <a:r>
              <a:rPr lang="tr-TR" sz="1800" i="1" dirty="0">
                <a:latin typeface="Franklin Gothic Book" panose="020B0503020102020204" pitchFamily="34" charset="0"/>
              </a:rPr>
              <a:t>Kara Rapor 2020: Hava Kirliliği ve Sağlık Etkileri</a:t>
            </a:r>
            <a:r>
              <a:rPr lang="tr-TR" sz="1800" dirty="0">
                <a:latin typeface="Franklin Gothic Book" panose="020B0503020102020204" pitchFamily="34" charset="0"/>
              </a:rPr>
              <a:t>. </a:t>
            </a:r>
            <a:r>
              <a:rPr lang="tr-TR" sz="1800" dirty="0">
                <a:latin typeface="Franklin Gothic Book" panose="020B0503020102020204" pitchFamily="34" charset="0"/>
                <a:hlinkClick r:id="rId4"/>
              </a:rPr>
              <a:t>https://temizhavahakki.org/kararapor2020/</a:t>
            </a:r>
            <a:r>
              <a:rPr lang="tr-TR" sz="1800" dirty="0">
                <a:latin typeface="Franklin Gothic Book" panose="020B0503020102020204" pitchFamily="34" charset="0"/>
              </a:rPr>
              <a:t> </a:t>
            </a:r>
          </a:p>
          <a:p>
            <a:pPr marL="723900" indent="-723900" algn="just">
              <a:buNone/>
            </a:pPr>
            <a:r>
              <a:rPr lang="tr-TR" sz="1800" dirty="0">
                <a:latin typeface="Franklin Gothic Book" panose="020B0503020102020204" pitchFamily="34" charset="0"/>
              </a:rPr>
              <a:t>Temiz Hava Hakkı Platformu. (2021). </a:t>
            </a:r>
            <a:r>
              <a:rPr lang="tr-TR" sz="1800" i="1" dirty="0">
                <a:latin typeface="Franklin Gothic Book" panose="020B0503020102020204" pitchFamily="34" charset="0"/>
              </a:rPr>
              <a:t>Kara Rapor 2021 Hava Kirliliği ve Sağlık Etkileri</a:t>
            </a:r>
            <a:r>
              <a:rPr lang="tr-TR" sz="1800" dirty="0">
                <a:latin typeface="Franklin Gothic Book" panose="020B0503020102020204" pitchFamily="34" charset="0"/>
              </a:rPr>
              <a:t>.</a:t>
            </a:r>
            <a:r>
              <a:rPr lang="tr-TR" sz="1800" i="1" dirty="0">
                <a:latin typeface="Franklin Gothic Book" panose="020B0503020102020204" pitchFamily="34" charset="0"/>
              </a:rPr>
              <a:t> </a:t>
            </a:r>
            <a:r>
              <a:rPr lang="tr-TR" sz="1800" dirty="0">
                <a:latin typeface="Franklin Gothic Book" panose="020B0503020102020204" pitchFamily="34" charset="0"/>
                <a:hlinkClick r:id="rId5"/>
              </a:rPr>
              <a:t>https://temizhavahakki.org/wp-content/uploads/2021/09/KaraRapor2021.pdf</a:t>
            </a:r>
            <a:r>
              <a:rPr lang="tr-TR" sz="1800" dirty="0">
                <a:latin typeface="Franklin Gothic Book" panose="020B0503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748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1931</Words>
  <Application>Microsoft Office PowerPoint</Application>
  <PresentationFormat>Geniş ekran</PresentationFormat>
  <Paragraphs>333</Paragraphs>
  <Slides>34</Slides>
  <Notes>2</Notes>
  <HiddenSlides>1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34</vt:i4>
      </vt:variant>
    </vt:vector>
  </HeadingPairs>
  <TitlesOfParts>
    <vt:vector size="41" baseType="lpstr">
      <vt:lpstr>Arial</vt:lpstr>
      <vt:lpstr>Calibri</vt:lpstr>
      <vt:lpstr>Franklin Gothic Book</vt:lpstr>
      <vt:lpstr>TT Supermolot Neue</vt:lpstr>
      <vt:lpstr>TT Supermolot Neue Black</vt:lpstr>
      <vt:lpstr>TT Supermolot Neue Exp Black</vt:lpstr>
      <vt:lpstr>Office Teması</vt:lpstr>
      <vt:lpstr>Açık-kaynaklı Taşınabilir Hava Kalitesi Ölçüm Kitleri</vt:lpstr>
      <vt:lpstr>GİRİŞ</vt:lpstr>
      <vt:lpstr>GİRİŞ</vt:lpstr>
      <vt:lpstr>GİRİŞ</vt:lpstr>
      <vt:lpstr>GİRİŞ: Hava Kirliliğinin Sağlığa Etkisi</vt:lpstr>
      <vt:lpstr>GİRİŞ: Hava Kirliliğinin Sağlığa Etkisi</vt:lpstr>
      <vt:lpstr>GİRİŞ: Hava Kirliliği ve İklim</vt:lpstr>
      <vt:lpstr>GİRİŞ: Hava Kirliliğine Karşı Önlemler</vt:lpstr>
      <vt:lpstr>PROBLEMİN TANIMI</vt:lpstr>
      <vt:lpstr>AMAÇ</vt:lpstr>
      <vt:lpstr>AMAÇ</vt:lpstr>
      <vt:lpstr>YÖNTEM</vt:lpstr>
      <vt:lpstr>YÖNTEM: Kitler</vt:lpstr>
      <vt:lpstr>YÖNTEM: Kitler Arası Farklar</vt:lpstr>
      <vt:lpstr>YÖNTEM: Medikal Kit</vt:lpstr>
      <vt:lpstr>YÖNTEM: Kişisel Kit</vt:lpstr>
      <vt:lpstr>YÖNTEM: Kitler</vt:lpstr>
      <vt:lpstr>YÖNTEM: Priz Modülü</vt:lpstr>
      <vt:lpstr>YÖNTEM: Priz Modülü</vt:lpstr>
      <vt:lpstr>YÖNTEM: Testler</vt:lpstr>
      <vt:lpstr>YÖNTEM: Karşılaştırmalı Ölçümler</vt:lpstr>
      <vt:lpstr>YÖNTEM: Referans Değerlere Karşı </vt:lpstr>
      <vt:lpstr>BULGULAR: Test Sonuçları</vt:lpstr>
      <vt:lpstr>BULGULAR: İstatistiksel Analiz</vt:lpstr>
      <vt:lpstr>BULGULAR: İstatistiksel Analiz</vt:lpstr>
      <vt:lpstr>BULGULAR: Maliyet Tablosu</vt:lpstr>
      <vt:lpstr>SONUÇ ve TARTIŞMA</vt:lpstr>
      <vt:lpstr>SONUÇ ve TARTIŞMA</vt:lpstr>
      <vt:lpstr>SONUÇ ve TARTIŞMA</vt:lpstr>
      <vt:lpstr>PROJENİN FARKI</vt:lpstr>
      <vt:lpstr>PROJENİN FARKI</vt:lpstr>
      <vt:lpstr>ÖNERİLER</vt:lpstr>
      <vt:lpstr>EK KULLANIM ALANLARI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Barkın Özsoy</dc:creator>
  <cp:lastModifiedBy>Barkın Özsoy</cp:lastModifiedBy>
  <cp:revision>166</cp:revision>
  <dcterms:created xsi:type="dcterms:W3CDTF">2025-06-24T08:05:39Z</dcterms:created>
  <dcterms:modified xsi:type="dcterms:W3CDTF">2025-06-28T19:10:45Z</dcterms:modified>
</cp:coreProperties>
</file>